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  <Override PartName="/ppt/media/image11.jpeg" ContentType="image/jpeg"/>
  <Override PartName="/ppt/media/image12.jpeg" ContentType="image/jpeg"/>
  <Override PartName="/ppt/media/image13.jpeg" ContentType="image/jpeg"/>
  <Override PartName="/ppt/media/image14.jpeg" ContentType="image/jpeg"/>
  <Override PartName="/ppt/media/image1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7" name="Shape 7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bg object 16"/>
          <p:cNvGrpSpPr/>
          <p:nvPr/>
        </p:nvGrpSpPr>
        <p:grpSpPr>
          <a:xfrm>
            <a:off x="431291" y="1040941"/>
            <a:ext cx="8712329" cy="51259"/>
            <a:chOff x="0" y="0"/>
            <a:chExt cx="8712327" cy="51257"/>
          </a:xfrm>
        </p:grpSpPr>
        <p:sp>
          <p:nvSpPr>
            <p:cNvPr id="11" name="Rectangle"/>
            <p:cNvSpPr/>
            <p:nvPr/>
          </p:nvSpPr>
          <p:spPr>
            <a:xfrm>
              <a:off x="0" y="34163"/>
              <a:ext cx="8712328" cy="17095"/>
            </a:xfrm>
            <a:prstGeom prst="rect">
              <a:avLst/>
            </a:prstGeom>
            <a:solidFill>
              <a:srgbClr val="9B9FA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" name="Rectangle"/>
            <p:cNvSpPr/>
            <p:nvPr/>
          </p:nvSpPr>
          <p:spPr>
            <a:xfrm>
              <a:off x="0" y="0"/>
              <a:ext cx="8712328" cy="17095"/>
            </a:xfrm>
            <a:prstGeom prst="rect">
              <a:avLst/>
            </a:prstGeom>
            <a:solidFill>
              <a:srgbClr val="9B9FA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14" name="bg object 17" descr="bg object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44511" y="140206"/>
            <a:ext cx="1900428" cy="2667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itle Text"/>
          <p:cNvSpPr txBox="1"/>
          <p:nvPr>
            <p:ph type="title"/>
          </p:nvPr>
        </p:nvSpPr>
        <p:spPr>
          <a:xfrm>
            <a:off x="685800" y="2125979"/>
            <a:ext cx="7772400" cy="14401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6" name="Body Level One…"/>
          <p:cNvSpPr txBox="1"/>
          <p:nvPr>
            <p:ph type="body" sz="quarter" idx="1"/>
          </p:nvPr>
        </p:nvSpPr>
        <p:spPr>
          <a:xfrm>
            <a:off x="1371600" y="3840479"/>
            <a:ext cx="6400800" cy="17145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bg object 16"/>
          <p:cNvGrpSpPr/>
          <p:nvPr/>
        </p:nvGrpSpPr>
        <p:grpSpPr>
          <a:xfrm>
            <a:off x="431291" y="1040941"/>
            <a:ext cx="8712329" cy="51259"/>
            <a:chOff x="0" y="0"/>
            <a:chExt cx="8712327" cy="51257"/>
          </a:xfrm>
        </p:grpSpPr>
        <p:sp>
          <p:nvSpPr>
            <p:cNvPr id="24" name="Rectangle"/>
            <p:cNvSpPr/>
            <p:nvPr/>
          </p:nvSpPr>
          <p:spPr>
            <a:xfrm>
              <a:off x="0" y="34163"/>
              <a:ext cx="8712328" cy="17095"/>
            </a:xfrm>
            <a:prstGeom prst="rect">
              <a:avLst/>
            </a:prstGeom>
            <a:solidFill>
              <a:srgbClr val="9B9FA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" name="Rectangle"/>
            <p:cNvSpPr/>
            <p:nvPr/>
          </p:nvSpPr>
          <p:spPr>
            <a:xfrm>
              <a:off x="0" y="0"/>
              <a:ext cx="8712328" cy="17095"/>
            </a:xfrm>
            <a:prstGeom prst="rect">
              <a:avLst/>
            </a:prstGeom>
            <a:solidFill>
              <a:srgbClr val="9B9FA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27" name="bg object 17" descr="bg object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44511" y="140206"/>
            <a:ext cx="1900428" cy="266701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Title Text"/>
          <p:cNvSpPr txBox="1"/>
          <p:nvPr>
            <p:ph type="title"/>
          </p:nvPr>
        </p:nvSpPr>
        <p:spPr>
          <a:xfrm>
            <a:off x="837691" y="481023"/>
            <a:ext cx="5093335" cy="484507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xfrm>
            <a:off x="457200" y="1577339"/>
            <a:ext cx="8229600" cy="45262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bg object 16"/>
          <p:cNvGrpSpPr/>
          <p:nvPr/>
        </p:nvGrpSpPr>
        <p:grpSpPr>
          <a:xfrm>
            <a:off x="431291" y="1040941"/>
            <a:ext cx="8712329" cy="51259"/>
            <a:chOff x="0" y="0"/>
            <a:chExt cx="8712327" cy="51257"/>
          </a:xfrm>
        </p:grpSpPr>
        <p:sp>
          <p:nvSpPr>
            <p:cNvPr id="37" name="Rectangle"/>
            <p:cNvSpPr/>
            <p:nvPr/>
          </p:nvSpPr>
          <p:spPr>
            <a:xfrm>
              <a:off x="0" y="34163"/>
              <a:ext cx="8712328" cy="17095"/>
            </a:xfrm>
            <a:prstGeom prst="rect">
              <a:avLst/>
            </a:prstGeom>
            <a:solidFill>
              <a:srgbClr val="9B9FA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" name="Rectangle"/>
            <p:cNvSpPr/>
            <p:nvPr/>
          </p:nvSpPr>
          <p:spPr>
            <a:xfrm>
              <a:off x="0" y="0"/>
              <a:ext cx="8712328" cy="17095"/>
            </a:xfrm>
            <a:prstGeom prst="rect">
              <a:avLst/>
            </a:prstGeom>
            <a:solidFill>
              <a:srgbClr val="9B9FA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40" name="bg object 17" descr="bg object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44511" y="140206"/>
            <a:ext cx="1900428" cy="266701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Title Text"/>
          <p:cNvSpPr txBox="1"/>
          <p:nvPr>
            <p:ph type="title"/>
          </p:nvPr>
        </p:nvSpPr>
        <p:spPr>
          <a:xfrm>
            <a:off x="837691" y="481023"/>
            <a:ext cx="5093335" cy="484507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2" name="Body Level One…"/>
          <p:cNvSpPr txBox="1"/>
          <p:nvPr>
            <p:ph type="body" sz="half" idx="1"/>
          </p:nvPr>
        </p:nvSpPr>
        <p:spPr>
          <a:xfrm>
            <a:off x="457200" y="1577339"/>
            <a:ext cx="3977641" cy="45262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bg object 16"/>
          <p:cNvGrpSpPr/>
          <p:nvPr/>
        </p:nvGrpSpPr>
        <p:grpSpPr>
          <a:xfrm>
            <a:off x="431291" y="1040941"/>
            <a:ext cx="8712329" cy="51259"/>
            <a:chOff x="0" y="0"/>
            <a:chExt cx="8712327" cy="51257"/>
          </a:xfrm>
        </p:grpSpPr>
        <p:sp>
          <p:nvSpPr>
            <p:cNvPr id="50" name="Rectangle"/>
            <p:cNvSpPr/>
            <p:nvPr/>
          </p:nvSpPr>
          <p:spPr>
            <a:xfrm>
              <a:off x="0" y="34163"/>
              <a:ext cx="8712328" cy="17095"/>
            </a:xfrm>
            <a:prstGeom prst="rect">
              <a:avLst/>
            </a:prstGeom>
            <a:solidFill>
              <a:srgbClr val="9B9FA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1" name="Rectangle"/>
            <p:cNvSpPr/>
            <p:nvPr/>
          </p:nvSpPr>
          <p:spPr>
            <a:xfrm>
              <a:off x="0" y="0"/>
              <a:ext cx="8712328" cy="17095"/>
            </a:xfrm>
            <a:prstGeom prst="rect">
              <a:avLst/>
            </a:prstGeom>
            <a:solidFill>
              <a:srgbClr val="9B9FA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53" name="bg object 17" descr="bg object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44511" y="140206"/>
            <a:ext cx="1900428" cy="266701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Title Text"/>
          <p:cNvSpPr txBox="1"/>
          <p:nvPr>
            <p:ph type="title"/>
          </p:nvPr>
        </p:nvSpPr>
        <p:spPr>
          <a:xfrm>
            <a:off x="837691" y="481023"/>
            <a:ext cx="5093335" cy="484507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5" name="Slide Number"/>
          <p:cNvSpPr txBox="1"/>
          <p:nvPr>
            <p:ph type="sldNum" sz="quarter" idx="2"/>
          </p:nvPr>
        </p:nvSpPr>
        <p:spPr>
          <a:xfrm>
            <a:off x="8419827" y="6377940"/>
            <a:ext cx="266974" cy="279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Text"/>
          <p:cNvSpPr txBox="1"/>
          <p:nvPr>
            <p:ph type="title"/>
          </p:nvPr>
        </p:nvSpPr>
        <p:spPr>
          <a:xfrm>
            <a:off x="837691" y="481023"/>
            <a:ext cx="5093335" cy="484507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7"/>
            <a:ext cx="8229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19827" y="6377940"/>
            <a:ext cx="266974" cy="2794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maps.app.goo.gl/VGvqj3kGcC4prBFt8?g_st=aw" TargetMode="External"/><Relationship Id="rId3" Type="http://schemas.openxmlformats.org/officeDocument/2006/relationships/image" Target="../media/image12.png"/><Relationship Id="rId4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google.com/maps/place/13%C2%B012'30.7%22N+77%C2%B019'08.4%22E/@13.208537,77.3164211,843m/data=!3m2!1e3!4b1!4m4!3m3!8m2!3d13.208537!4d77.318996!5m1!1e1?entry=ttu&amp;g_ep=EgoyMDI1MTIwMS4wIKXMDSoASAFQAw==" TargetMode="External"/><Relationship Id="rId3" Type="http://schemas.openxmlformats.org/officeDocument/2006/relationships/image" Target="../media/image3.jpeg"/><Relationship Id="rId4" Type="http://schemas.openxmlformats.org/officeDocument/2006/relationships/image" Target="../media/image4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google.com/maps/place/13%C2%B010'17.3%22N+77%C2%B020'24.0%22E/@13.1715261,77.3401492,398m/data=!3m1!1e3!4m4!3m3!8m2!3d13.171482!4d77.340005!5m1!1e1!17m2!4m1!1e3!18m1!1e1?entry=ttu&amp;g_ep=EgoyMDI1MTIwMS4wIKXMDSoASAFQAw==" TargetMode="External"/><Relationship Id="rId3" Type="http://schemas.openxmlformats.org/officeDocument/2006/relationships/image" Target="../media/image13.png"/><Relationship Id="rId4" Type="http://schemas.openxmlformats.org/officeDocument/2006/relationships/image" Target="../media/image5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maps.app.goo.gl/daid6U2ZRocDZwT29" TargetMode="External"/><Relationship Id="rId3" Type="http://schemas.openxmlformats.org/officeDocument/2006/relationships/image" Target="../media/image10.jpeg"/><Relationship Id="rId4" Type="http://schemas.openxmlformats.org/officeDocument/2006/relationships/image" Target="../media/image11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1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object 2"/>
          <p:cNvGrpSpPr/>
          <p:nvPr/>
        </p:nvGrpSpPr>
        <p:grpSpPr>
          <a:xfrm>
            <a:off x="-1" y="0"/>
            <a:ext cx="9144001" cy="6857997"/>
            <a:chOff x="0" y="0"/>
            <a:chExt cx="9143999" cy="6857996"/>
          </a:xfrm>
        </p:grpSpPr>
        <p:pic>
          <p:nvPicPr>
            <p:cNvPr id="79" name="object 3" descr="object 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9144001" cy="685799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0" name="object 4" descr="object 4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708658" y="1770888"/>
              <a:ext cx="3787142" cy="5913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1" name="object 5" descr="object 5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493519" y="2488692"/>
              <a:ext cx="2677669" cy="28453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2" name="object 6" descr="object 6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842771" y="445007"/>
              <a:ext cx="3320798" cy="4648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3" name="object 7" descr="object 7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1168906" y="5562600"/>
              <a:ext cx="3326893" cy="62179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85" name="object 8"/>
          <p:cNvSpPr txBox="1"/>
          <p:nvPr>
            <p:ph type="title"/>
          </p:nvPr>
        </p:nvSpPr>
        <p:spPr>
          <a:xfrm>
            <a:off x="708659" y="1138135"/>
            <a:ext cx="5292483" cy="443071"/>
          </a:xfrm>
          <a:prstGeom prst="rect">
            <a:avLst/>
          </a:prstGeom>
        </p:spPr>
        <p:txBody>
          <a:bodyPr/>
          <a:lstStyle/>
          <a:p>
            <a:pPr indent="12700">
              <a:defRPr i="1">
                <a:latin typeface="Carlito"/>
                <a:ea typeface="Carlito"/>
                <a:cs typeface="Carlito"/>
                <a:sym typeface="Carlito"/>
              </a:defRPr>
            </a:pPr>
            <a:r>
              <a:t>Tailored</a:t>
            </a:r>
            <a:r>
              <a:rPr spc="-100"/>
              <a:t> </a:t>
            </a:r>
            <a:r>
              <a:t>Warehousing</a:t>
            </a:r>
            <a:r>
              <a:rPr spc="-200"/>
              <a:t> </a:t>
            </a:r>
            <a:r>
              <a:t>Options</a:t>
            </a:r>
            <a:r>
              <a:rPr spc="-200"/>
              <a:t> </a:t>
            </a:r>
          </a:p>
        </p:txBody>
      </p:sp>
      <p:sp>
        <p:nvSpPr>
          <p:cNvPr id="86" name="Straight Arrow Connector 23"/>
          <p:cNvSpPr/>
          <p:nvPr/>
        </p:nvSpPr>
        <p:spPr>
          <a:xfrm flipH="1">
            <a:off x="6055735" y="2026302"/>
            <a:ext cx="7122" cy="1781960"/>
          </a:xfrm>
          <a:prstGeom prst="line">
            <a:avLst/>
          </a:prstGeom>
          <a:ln w="38100">
            <a:solidFill>
              <a:srgbClr val="000000"/>
            </a:solidFill>
            <a:headEnd type="triangle"/>
            <a:tail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7" name="Straight Arrow Connector 24"/>
          <p:cNvSpPr/>
          <p:nvPr/>
        </p:nvSpPr>
        <p:spPr>
          <a:xfrm>
            <a:off x="7555903" y="2063288"/>
            <a:ext cx="1" cy="1744974"/>
          </a:xfrm>
          <a:prstGeom prst="line">
            <a:avLst/>
          </a:prstGeom>
          <a:ln w="38100">
            <a:solidFill>
              <a:srgbClr val="000000"/>
            </a:solidFill>
            <a:headEnd type="triangle"/>
            <a:tail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" name="Straight Arrow Connector 25"/>
          <p:cNvSpPr/>
          <p:nvPr/>
        </p:nvSpPr>
        <p:spPr>
          <a:xfrm flipH="1">
            <a:off x="4620511" y="3808261"/>
            <a:ext cx="4452895" cy="18798"/>
          </a:xfrm>
          <a:prstGeom prst="line">
            <a:avLst/>
          </a:prstGeom>
          <a:ln w="38100">
            <a:solidFill>
              <a:srgbClr val="000000"/>
            </a:solidFill>
            <a:headEnd type="triangle"/>
            <a:tail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" name="Straight Arrow Connector 26"/>
          <p:cNvSpPr/>
          <p:nvPr/>
        </p:nvSpPr>
        <p:spPr>
          <a:xfrm flipH="1">
            <a:off x="4572000" y="2892437"/>
            <a:ext cx="4452895" cy="18798"/>
          </a:xfrm>
          <a:prstGeom prst="line">
            <a:avLst/>
          </a:prstGeom>
          <a:ln w="38100">
            <a:solidFill>
              <a:srgbClr val="000000"/>
            </a:solidFill>
            <a:headEnd type="triangle"/>
            <a:tailEnd type="triangle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90" name="Picture 8" descr="Picture 8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624627" y="1995409"/>
            <a:ext cx="1415415" cy="872487"/>
          </a:xfrm>
          <a:prstGeom prst="rect">
            <a:avLst/>
          </a:prstGeom>
          <a:ln w="12700">
            <a:miter lim="400000"/>
          </a:ln>
        </p:spPr>
      </p:pic>
      <p:pic>
        <p:nvPicPr>
          <p:cNvPr id="91" name="Picture 9" descr="Picture 9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115067" y="1998931"/>
            <a:ext cx="1438492" cy="861011"/>
          </a:xfrm>
          <a:prstGeom prst="rect">
            <a:avLst/>
          </a:prstGeom>
          <a:ln w="12700">
            <a:miter lim="400000"/>
          </a:ln>
        </p:spPr>
      </p:pic>
      <p:pic>
        <p:nvPicPr>
          <p:cNvPr id="92" name="Picture 10" descr="Picture 10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7638625" y="2032400"/>
            <a:ext cx="1500218" cy="826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93" name="Picture 28" descr="Picture 28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4621503" y="2953380"/>
            <a:ext cx="1424869" cy="864951"/>
          </a:xfrm>
          <a:prstGeom prst="rect">
            <a:avLst/>
          </a:prstGeom>
          <a:ln w="12700">
            <a:miter lim="400000"/>
          </a:ln>
        </p:spPr>
      </p:pic>
      <p:pic>
        <p:nvPicPr>
          <p:cNvPr id="94" name="Picture 31" descr="Picture 31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6115067" y="2967117"/>
            <a:ext cx="1438492" cy="810253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32" descr="Picture 32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7648812" y="2958000"/>
            <a:ext cx="1471981" cy="8271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object 2"/>
          <p:cNvSpPr txBox="1"/>
          <p:nvPr>
            <p:ph type="title"/>
          </p:nvPr>
        </p:nvSpPr>
        <p:spPr>
          <a:xfrm>
            <a:off x="837691" y="481023"/>
            <a:ext cx="7010909" cy="443071"/>
          </a:xfrm>
          <a:prstGeom prst="rect">
            <a:avLst/>
          </a:prstGeom>
        </p:spPr>
        <p:txBody>
          <a:bodyPr/>
          <a:lstStyle/>
          <a:p>
            <a:pPr indent="12700">
              <a:defRPr>
                <a:latin typeface="Carlito"/>
                <a:ea typeface="Carlito"/>
                <a:cs typeface="Carlito"/>
                <a:sym typeface="Carlito"/>
              </a:defRPr>
            </a:pPr>
            <a:r>
              <a:t>1.</a:t>
            </a:r>
            <a:r>
              <a:rPr spc="-100"/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Option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1 </a:t>
            </a:r>
            <a:r>
              <a:rPr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Property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Details &amp; Photos</a:t>
            </a:r>
          </a:p>
        </p:txBody>
      </p:sp>
      <p:graphicFrame>
        <p:nvGraphicFramePr>
          <p:cNvPr id="98" name="Table 3"/>
          <p:cNvGraphicFramePr/>
          <p:nvPr/>
        </p:nvGraphicFramePr>
        <p:xfrm>
          <a:off x="152400" y="1147004"/>
          <a:ext cx="4267200" cy="12045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752600"/>
                <a:gridCol w="2514600"/>
              </a:tblGrid>
              <a:tr h="101600">
                <a:tc>
                  <a:txBody>
                    <a:bodyPr/>
                    <a:lstStyle/>
                    <a:p>
                      <a:pPr algn="l">
                        <a:def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  <a:p>
                      <a:pPr indent="90805" algn="l">
                        <a:defRPr b="1" sz="120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Project name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427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pc="-5" sz="120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 Begur Taluk Nelamangala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42739"/>
                    </a:solidFill>
                  </a:tcPr>
                </a:tc>
              </a:tr>
              <a:tr h="50800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b="1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Building</a:t>
                      </a:r>
                      <a:r>
                        <a:rPr spc="-10"/>
                        <a:t> </a:t>
                      </a:r>
                      <a:r>
                        <a:t>Structural</a:t>
                      </a:r>
                      <a:r>
                        <a:rPr spc="-35"/>
                        <a:t> </a:t>
                      </a:r>
                      <a:r>
                        <a:t>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</a:tr>
              <a:tr h="50800">
                <a:tc>
                  <a:txBody>
                    <a:bodyPr/>
                    <a:lstStyle/>
                    <a:p>
                      <a:pPr indent="90805" algn="l">
                        <a:spcBef>
                          <a:spcPts val="1000"/>
                        </a:spcBef>
                        <a:defRPr spc="-1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Type</a:t>
                      </a:r>
                      <a:r>
                        <a:rPr spc="-50"/>
                        <a:t> </a:t>
                      </a:r>
                      <a:r>
                        <a:rPr spc="0"/>
                        <a:t>of</a:t>
                      </a:r>
                      <a:r>
                        <a:rPr spc="-25"/>
                        <a:t> </a:t>
                      </a:r>
                      <a:r>
                        <a:rPr spc="0"/>
                        <a:t>Option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1000"/>
                        </a:spcBef>
                        <a:defRPr sz="1200">
                          <a:solidFill>
                            <a:srgbClr val="232323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Re</a:t>
                      </a:r>
                      <a:r>
                        <a:rPr spc="5"/>
                        <a:t>a</a:t>
                      </a:r>
                      <a:r>
                        <a:t>dy</a:t>
                      </a:r>
                      <a:r>
                        <a:rPr spc="-50"/>
                        <a:t> </a:t>
                      </a:r>
                      <a:r>
                        <a:rPr spc="-125"/>
                        <a:t>T</a:t>
                      </a:r>
                      <a:r>
                        <a:t>o</a:t>
                      </a:r>
                      <a:r>
                        <a:rPr spc="-10"/>
                        <a:t> </a:t>
                      </a:r>
                      <a:r>
                        <a:rPr spc="-5"/>
                        <a:t>M</a:t>
                      </a:r>
                      <a:r>
                        <a:t>o</a:t>
                      </a:r>
                      <a:r>
                        <a:rPr spc="-15"/>
                        <a:t>v</a:t>
                      </a:r>
                      <a:r>
                        <a:t>e –</a:t>
                      </a:r>
                      <a:r>
                        <a:rPr spc="5"/>
                        <a:t> </a:t>
                      </a:r>
                      <a:r>
                        <a:t>PEB</a:t>
                      </a:r>
                      <a:r>
                        <a:rPr spc="-10"/>
                        <a:t> </a:t>
                      </a:r>
                      <a:r>
                        <a:t>Struct</a:t>
                      </a:r>
                      <a:r>
                        <a:rPr spc="5"/>
                        <a:t>u</a:t>
                      </a:r>
                      <a:r>
                        <a:t>r</a:t>
                      </a:r>
                      <a:r>
                        <a:rPr spc="5"/>
                        <a:t>e</a:t>
                      </a:r>
                      <a:r>
                        <a:rPr>
                          <a:solidFill>
                            <a:srgbClr val="242739"/>
                          </a:solidFill>
                        </a:rPr>
                        <a:t>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spcBef>
                          <a:spcPts val="10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Google Coordinates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rPr u="sng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hlinkClick r:id="rId2" invalidUrl="" action="" tgtFrame="" tooltip="" history="1" highlightClick="0" endSnd="0"/>
                        </a:rPr>
                        <a:t>https://maps.app.goo.gl/VGvqj3kGcC4prBFt8?g_st=aw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Status</a:t>
                      </a:r>
                      <a:r>
                        <a:rPr spc="-50"/>
                        <a:t> </a:t>
                      </a:r>
                      <a:r>
                        <a:t>of</a:t>
                      </a:r>
                      <a:r>
                        <a:rPr spc="-20"/>
                        <a:t> </a:t>
                      </a:r>
                      <a:r>
                        <a:t>Land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Approved For warehousing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Area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Offered area – 1,00,000 sq. ft.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Rental per sq. ft.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22 INR + GST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Eaves</a:t>
                      </a:r>
                      <a:r>
                        <a:rPr spc="-45"/>
                        <a:t> </a:t>
                      </a:r>
                      <a:r>
                        <a:t>Height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12 Meter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pc="-1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Type</a:t>
                      </a:r>
                      <a:r>
                        <a:rPr spc="-50"/>
                        <a:t> </a:t>
                      </a:r>
                      <a:r>
                        <a:rPr spc="0"/>
                        <a:t>Of</a:t>
                      </a:r>
                      <a:r>
                        <a:rPr spc="-20"/>
                        <a:t> </a:t>
                      </a:r>
                      <a:r>
                        <a:rPr spc="0"/>
                        <a:t>Flooring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500"/>
                        </a:spcBef>
                        <a:defRPr spc="-40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FM-II </a:t>
                      </a:r>
                      <a:r>
                        <a:rPr spc="-5"/>
                        <a:t>Flooring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Floor</a:t>
                      </a:r>
                      <a:r>
                        <a:rPr spc="-40"/>
                        <a:t> </a:t>
                      </a:r>
                      <a:r>
                        <a:t>Load</a:t>
                      </a:r>
                      <a:r>
                        <a:rPr spc="-50"/>
                        <a:t> </a:t>
                      </a:r>
                      <a:r>
                        <a:t>Capacity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500"/>
                        </a:spcBef>
                        <a:def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5</a:t>
                      </a:r>
                      <a:r>
                        <a:rPr spc="-45"/>
                        <a:t> </a:t>
                      </a:r>
                      <a:r>
                        <a:rPr spc="-15"/>
                        <a:t>Tonnes/Sq.</a:t>
                      </a:r>
                      <a:r>
                        <a:rPr spc="-60"/>
                        <a:t> </a:t>
                      </a:r>
                      <a:r>
                        <a:t>Mtr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No. of docks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10 Nos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Canopy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Running Canopy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Ventilation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Ridge vents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Insulation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Electrical workload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Load – 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Toilets  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marR="260350" indent="90805" algn="l">
                        <a:spcBef>
                          <a:spcPts val="7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B</a:t>
                      </a:r>
                      <a:r>
                        <a:rPr spc="5"/>
                        <a:t>u</a:t>
                      </a:r>
                      <a:r>
                        <a:t>i</a:t>
                      </a:r>
                      <a:r>
                        <a:rPr spc="-5"/>
                        <a:t>l</a:t>
                      </a:r>
                      <a:r>
                        <a:rPr spc="-10"/>
                        <a:t>d</a:t>
                      </a:r>
                      <a:r>
                        <a:rPr spc="-15"/>
                        <a:t>i</a:t>
                      </a:r>
                      <a:r>
                        <a:rPr spc="-10"/>
                        <a:t>n</a:t>
                      </a:r>
                      <a:r>
                        <a:t>g</a:t>
                      </a:r>
                      <a:r>
                        <a:rPr spc="-55"/>
                        <a:t> </a:t>
                      </a:r>
                      <a:r>
                        <a:t>Struct</a:t>
                      </a:r>
                      <a:r>
                        <a:rPr spc="5"/>
                        <a:t>u</a:t>
                      </a:r>
                      <a:r>
                        <a:t>ral</a:t>
                      </a:r>
                      <a:r>
                        <a:rPr spc="5"/>
                        <a:t> </a:t>
                      </a:r>
                      <a:r>
                        <a:t>St</a:t>
                      </a:r>
                      <a:r>
                        <a:rPr spc="5"/>
                        <a:t>a</a:t>
                      </a:r>
                      <a:r>
                        <a:t>b</a:t>
                      </a:r>
                      <a:r>
                        <a:rPr spc="-15"/>
                        <a:t>i</a:t>
                      </a:r>
                      <a:r>
                        <a:t>l</a:t>
                      </a:r>
                      <a:r>
                        <a:rPr spc="-20"/>
                        <a:t>i</a:t>
                      </a:r>
                      <a:r>
                        <a:t>ty</a:t>
                      </a:r>
                      <a:r>
                        <a:t> Certificate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R="281940" algn="l"/>
                      <a:r>
                        <a: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Fire safety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Hydrant Available and Sprinklers will be installed at additional cost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Handover timeline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Immediate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pSp>
        <p:nvGrpSpPr>
          <p:cNvPr id="101" name="Group 6"/>
          <p:cNvGrpSpPr/>
          <p:nvPr/>
        </p:nvGrpSpPr>
        <p:grpSpPr>
          <a:xfrm>
            <a:off x="4495800" y="1295399"/>
            <a:ext cx="4595546" cy="5096414"/>
            <a:chOff x="0" y="0"/>
            <a:chExt cx="4595545" cy="5096413"/>
          </a:xfrm>
        </p:grpSpPr>
        <p:pic>
          <p:nvPicPr>
            <p:cNvPr id="99" name="Picture 4" descr="Picture 4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1140" y="-1"/>
              <a:ext cx="4558565" cy="21781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0" name="Picture 5" descr="Picture 5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2334529"/>
              <a:ext cx="4595546" cy="276188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object 2"/>
          <p:cNvSpPr txBox="1"/>
          <p:nvPr>
            <p:ph type="title"/>
          </p:nvPr>
        </p:nvSpPr>
        <p:spPr>
          <a:xfrm>
            <a:off x="837691" y="481023"/>
            <a:ext cx="7010909" cy="443071"/>
          </a:xfrm>
          <a:prstGeom prst="rect">
            <a:avLst/>
          </a:prstGeom>
        </p:spPr>
        <p:txBody>
          <a:bodyPr/>
          <a:lstStyle/>
          <a:p>
            <a:pPr indent="12700">
              <a:defRPr>
                <a:latin typeface="Carlito"/>
                <a:ea typeface="Carlito"/>
                <a:cs typeface="Carlito"/>
                <a:sym typeface="Carlito"/>
              </a:defRPr>
            </a:pPr>
            <a:r>
              <a:t>2.</a:t>
            </a:r>
            <a:r>
              <a:rPr spc="-100"/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Option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2 - 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Property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Details &amp; Photos</a:t>
            </a:r>
          </a:p>
        </p:txBody>
      </p:sp>
      <p:graphicFrame>
        <p:nvGraphicFramePr>
          <p:cNvPr id="104" name="Table 3"/>
          <p:cNvGraphicFramePr/>
          <p:nvPr/>
        </p:nvGraphicFramePr>
        <p:xfrm>
          <a:off x="152400" y="1147004"/>
          <a:ext cx="4267200" cy="12045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752600"/>
                <a:gridCol w="2514600"/>
              </a:tblGrid>
              <a:tr h="101600">
                <a:tc>
                  <a:txBody>
                    <a:bodyPr/>
                    <a:lstStyle/>
                    <a:p>
                      <a:pPr algn="l">
                        <a:def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  <a:p>
                      <a:pPr indent="90805" algn="l">
                        <a:defRPr b="1" sz="120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Project name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427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pc="-5" sz="120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Kallalghatta, T Begur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42739"/>
                    </a:solidFill>
                  </a:tcPr>
                </a:tc>
              </a:tr>
              <a:tr h="50800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b="1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Building</a:t>
                      </a:r>
                      <a:r>
                        <a:rPr spc="-10"/>
                        <a:t> </a:t>
                      </a:r>
                      <a:r>
                        <a:t>Structural</a:t>
                      </a:r>
                      <a:r>
                        <a:rPr spc="-35"/>
                        <a:t> </a:t>
                      </a:r>
                      <a:r>
                        <a:t>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</a:tr>
              <a:tr h="50800">
                <a:tc>
                  <a:txBody>
                    <a:bodyPr/>
                    <a:lstStyle/>
                    <a:p>
                      <a:pPr indent="90805" algn="l">
                        <a:spcBef>
                          <a:spcPts val="1000"/>
                        </a:spcBef>
                        <a:defRPr spc="-1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Type</a:t>
                      </a:r>
                      <a:r>
                        <a:rPr spc="-50"/>
                        <a:t> </a:t>
                      </a:r>
                      <a:r>
                        <a:rPr spc="0"/>
                        <a:t>of</a:t>
                      </a:r>
                      <a:r>
                        <a:rPr spc="-25"/>
                        <a:t> </a:t>
                      </a:r>
                      <a:r>
                        <a:rPr spc="0"/>
                        <a:t>Option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1000"/>
                        </a:spcBef>
                        <a:def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Ready To move </a:t>
                      </a:r>
                      <a:r>
                        <a:rPr>
                          <a:solidFill>
                            <a:srgbClr val="232323"/>
                          </a:solidFill>
                        </a:rPr>
                        <a:t>–</a:t>
                      </a:r>
                      <a:r>
                        <a:rPr spc="5">
                          <a:solidFill>
                            <a:srgbClr val="232323"/>
                          </a:solidFill>
                        </a:rPr>
                        <a:t> </a:t>
                      </a:r>
                      <a:r>
                        <a:rPr>
                          <a:solidFill>
                            <a:srgbClr val="232323"/>
                          </a:solidFill>
                        </a:rPr>
                        <a:t>PEB</a:t>
                      </a:r>
                      <a:r>
                        <a:rPr spc="-10">
                          <a:solidFill>
                            <a:srgbClr val="232323"/>
                          </a:solidFill>
                        </a:rPr>
                        <a:t> </a:t>
                      </a:r>
                      <a:r>
                        <a:rPr>
                          <a:solidFill>
                            <a:srgbClr val="232323"/>
                          </a:solidFill>
                        </a:rPr>
                        <a:t>Struct</a:t>
                      </a:r>
                      <a:r>
                        <a:rPr spc="5">
                          <a:solidFill>
                            <a:srgbClr val="232323"/>
                          </a:solidFill>
                        </a:rPr>
                        <a:t>u</a:t>
                      </a:r>
                      <a:r>
                        <a:rPr>
                          <a:solidFill>
                            <a:srgbClr val="232323"/>
                          </a:solidFill>
                        </a:rPr>
                        <a:t>r</a:t>
                      </a:r>
                      <a:r>
                        <a:rPr spc="5">
                          <a:solidFill>
                            <a:srgbClr val="232323"/>
                          </a:solidFill>
                        </a:rPr>
                        <a:t>e</a:t>
                      </a:r>
                      <a:r>
                        <a:rPr>
                          <a:solidFill>
                            <a:srgbClr val="242739"/>
                          </a:solidFill>
                        </a:rPr>
                        <a:t>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spcBef>
                          <a:spcPts val="10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Google Coordinates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rPr u="sng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hlinkClick r:id="rId2" invalidUrl="" action="" tgtFrame="" tooltip="" history="1" highlightClick="0" endSnd="0"/>
                        </a:rPr>
                        <a:t>13.208537, 77.318996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Status</a:t>
                      </a:r>
                      <a:r>
                        <a:rPr spc="-50"/>
                        <a:t> </a:t>
                      </a:r>
                      <a:r>
                        <a:t>of</a:t>
                      </a:r>
                      <a:r>
                        <a:rPr spc="-20"/>
                        <a:t> </a:t>
                      </a:r>
                      <a:r>
                        <a:t>Land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Approved For warehousing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Area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Offered area – 1,21,000 sq. ft.
Open space – 79,000 sq. ft.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Rental per sq. ft.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18 INR + GST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Eaves</a:t>
                      </a:r>
                      <a:r>
                        <a:rPr spc="-45"/>
                        <a:t> </a:t>
                      </a:r>
                      <a:r>
                        <a:t>Height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11.5 Meter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pc="-1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Type</a:t>
                      </a:r>
                      <a:r>
                        <a:rPr spc="-50"/>
                        <a:t> </a:t>
                      </a:r>
                      <a:r>
                        <a:rPr spc="0"/>
                        <a:t>Of</a:t>
                      </a:r>
                      <a:r>
                        <a:rPr spc="-20"/>
                        <a:t> </a:t>
                      </a:r>
                      <a:r>
                        <a:rPr spc="0"/>
                        <a:t>Flooring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500"/>
                        </a:spcBef>
                        <a:defRPr spc="-40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VDF </a:t>
                      </a:r>
                      <a:r>
                        <a:rPr spc="-5"/>
                        <a:t>Flooring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Floor</a:t>
                      </a:r>
                      <a:r>
                        <a:rPr spc="-40"/>
                        <a:t> </a:t>
                      </a:r>
                      <a:r>
                        <a:t>Load</a:t>
                      </a:r>
                      <a:r>
                        <a:rPr spc="-50"/>
                        <a:t> </a:t>
                      </a:r>
                      <a:r>
                        <a:t>Capacity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500"/>
                        </a:spcBef>
                        <a:def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5</a:t>
                      </a:r>
                      <a:r>
                        <a:rPr spc="-45"/>
                        <a:t> </a:t>
                      </a:r>
                      <a:r>
                        <a:rPr spc="-15"/>
                        <a:t>Tonnes/Sq.</a:t>
                      </a:r>
                      <a:r>
                        <a:rPr spc="-60"/>
                        <a:t> </a:t>
                      </a:r>
                      <a:r>
                        <a:t>Mtr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No. of docks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 Nos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Canopy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Canopy over docks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Ventilation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Ridge vents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Insulation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Electrical workload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Load – 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Toilets  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marR="260350" indent="90805" algn="l">
                        <a:spcBef>
                          <a:spcPts val="7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B</a:t>
                      </a:r>
                      <a:r>
                        <a:rPr spc="5"/>
                        <a:t>u</a:t>
                      </a:r>
                      <a:r>
                        <a:t>i</a:t>
                      </a:r>
                      <a:r>
                        <a:rPr spc="-5"/>
                        <a:t>l</a:t>
                      </a:r>
                      <a:r>
                        <a:rPr spc="-10"/>
                        <a:t>d</a:t>
                      </a:r>
                      <a:r>
                        <a:rPr spc="-15"/>
                        <a:t>i</a:t>
                      </a:r>
                      <a:r>
                        <a:rPr spc="-10"/>
                        <a:t>n</a:t>
                      </a:r>
                      <a:r>
                        <a:t>g</a:t>
                      </a:r>
                      <a:r>
                        <a:rPr spc="-55"/>
                        <a:t> </a:t>
                      </a:r>
                      <a:r>
                        <a:t>Struct</a:t>
                      </a:r>
                      <a:r>
                        <a:rPr spc="5"/>
                        <a:t>u</a:t>
                      </a:r>
                      <a:r>
                        <a:t>ral</a:t>
                      </a:r>
                      <a:r>
                        <a:rPr spc="5"/>
                        <a:t> </a:t>
                      </a:r>
                      <a:r>
                        <a:t>St</a:t>
                      </a:r>
                      <a:r>
                        <a:rPr spc="5"/>
                        <a:t>a</a:t>
                      </a:r>
                      <a:r>
                        <a:t>b</a:t>
                      </a:r>
                      <a:r>
                        <a:rPr spc="-15"/>
                        <a:t>i</a:t>
                      </a:r>
                      <a:r>
                        <a:t>l</a:t>
                      </a:r>
                      <a:r>
                        <a:rPr spc="-20"/>
                        <a:t>i</a:t>
                      </a:r>
                      <a:r>
                        <a:t>ty</a:t>
                      </a:r>
                      <a:r>
                        <a:t> Certificate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R="281940" algn="l"/>
                      <a:r>
                        <a: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Fire safety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Hydrants + Fire Advisory Certificate; Sprinklers will be installed at additional cost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Handover timeline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Immediate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pSp>
        <p:nvGrpSpPr>
          <p:cNvPr id="107" name="Group 6"/>
          <p:cNvGrpSpPr/>
          <p:nvPr/>
        </p:nvGrpSpPr>
        <p:grpSpPr>
          <a:xfrm>
            <a:off x="4572000" y="1219199"/>
            <a:ext cx="4419601" cy="5334001"/>
            <a:chOff x="0" y="0"/>
            <a:chExt cx="4419599" cy="5334000"/>
          </a:xfrm>
        </p:grpSpPr>
        <p:pic>
          <p:nvPicPr>
            <p:cNvPr id="105" name="Picture 4" descr="Picture 4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-1"/>
              <a:ext cx="4380877" cy="28913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6" name="Picture 5" descr="Picture 5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" y="2994526"/>
              <a:ext cx="4419599" cy="23394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object 2"/>
          <p:cNvSpPr txBox="1"/>
          <p:nvPr>
            <p:ph type="title"/>
          </p:nvPr>
        </p:nvSpPr>
        <p:spPr>
          <a:xfrm>
            <a:off x="837691" y="481023"/>
            <a:ext cx="7010909" cy="443071"/>
          </a:xfrm>
          <a:prstGeom prst="rect">
            <a:avLst/>
          </a:prstGeom>
        </p:spPr>
        <p:txBody>
          <a:bodyPr/>
          <a:lstStyle/>
          <a:p>
            <a:pPr indent="12700">
              <a:defRPr>
                <a:latin typeface="Carlito"/>
                <a:ea typeface="Carlito"/>
                <a:cs typeface="Carlito"/>
                <a:sym typeface="Carlito"/>
              </a:defRPr>
            </a:pPr>
            <a:r>
              <a:t>3.</a:t>
            </a:r>
            <a:r>
              <a:rPr spc="-100"/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Option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3 - 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Property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Details &amp; Photos</a:t>
            </a:r>
          </a:p>
        </p:txBody>
      </p:sp>
      <p:graphicFrame>
        <p:nvGraphicFramePr>
          <p:cNvPr id="110" name="Table 3"/>
          <p:cNvGraphicFramePr/>
          <p:nvPr/>
        </p:nvGraphicFramePr>
        <p:xfrm>
          <a:off x="152400" y="1147004"/>
          <a:ext cx="4267200" cy="12045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752600"/>
                <a:gridCol w="152400"/>
                <a:gridCol w="2362200"/>
              </a:tblGrid>
              <a:tr h="101600">
                <a:tc>
                  <a:txBody>
                    <a:bodyPr/>
                    <a:lstStyle/>
                    <a:p>
                      <a:pPr algn="l">
                        <a:def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  <a:p>
                      <a:pPr indent="90805" algn="l">
                        <a:defRPr b="1" sz="120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Project name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4273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b="1" spc="-5" sz="120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T.Begur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42739"/>
                    </a:solidFill>
                  </a:tcPr>
                </a:tc>
                <a:tc hMerge="1">
                  <a:tcPr/>
                </a:tc>
              </a:tr>
              <a:tr h="50800">
                <a:tc gridSpan="3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b="1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Building</a:t>
                      </a:r>
                      <a:r>
                        <a:rPr spc="-10"/>
                        <a:t> </a:t>
                      </a:r>
                      <a:r>
                        <a:t>Structural</a:t>
                      </a:r>
                      <a:r>
                        <a:rPr spc="-35"/>
                        <a:t> </a:t>
                      </a:r>
                      <a:r>
                        <a:t>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50800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1000"/>
                        </a:spcBef>
                        <a:defRPr spc="-1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Type</a:t>
                      </a:r>
                      <a:r>
                        <a:rPr spc="-50"/>
                        <a:t> </a:t>
                      </a:r>
                      <a:r>
                        <a:rPr spc="0"/>
                        <a:t>of</a:t>
                      </a:r>
                      <a:r>
                        <a:rPr spc="-25"/>
                        <a:t> </a:t>
                      </a:r>
                      <a:r>
                        <a:rPr spc="0"/>
                        <a:t>Option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1000"/>
                        </a:spcBef>
                        <a:def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Under Construction </a:t>
                      </a:r>
                      <a:r>
                        <a:rPr>
                          <a:solidFill>
                            <a:srgbClr val="232323"/>
                          </a:solidFill>
                        </a:rPr>
                        <a:t>–</a:t>
                      </a:r>
                      <a:r>
                        <a:rPr spc="5">
                          <a:solidFill>
                            <a:srgbClr val="232323"/>
                          </a:solidFill>
                        </a:rPr>
                        <a:t> </a:t>
                      </a:r>
                      <a:r>
                        <a:rPr>
                          <a:solidFill>
                            <a:srgbClr val="232323"/>
                          </a:solidFill>
                        </a:rPr>
                        <a:t>PEB</a:t>
                      </a:r>
                      <a:r>
                        <a:rPr spc="-10">
                          <a:solidFill>
                            <a:srgbClr val="232323"/>
                          </a:solidFill>
                        </a:rPr>
                        <a:t> </a:t>
                      </a:r>
                      <a:r>
                        <a:rPr>
                          <a:solidFill>
                            <a:srgbClr val="232323"/>
                          </a:solidFill>
                        </a:rPr>
                        <a:t>Struct</a:t>
                      </a:r>
                      <a:r>
                        <a:rPr spc="5">
                          <a:solidFill>
                            <a:srgbClr val="232323"/>
                          </a:solidFill>
                        </a:rPr>
                        <a:t>u</a:t>
                      </a:r>
                      <a:r>
                        <a:rPr>
                          <a:solidFill>
                            <a:srgbClr val="232323"/>
                          </a:solidFill>
                        </a:rPr>
                        <a:t>r</a:t>
                      </a:r>
                      <a:r>
                        <a:rPr spc="5">
                          <a:solidFill>
                            <a:srgbClr val="232323"/>
                          </a:solidFill>
                        </a:rPr>
                        <a:t>e</a:t>
                      </a:r>
                      <a:r>
                        <a:rPr>
                          <a:solidFill>
                            <a:srgbClr val="242739"/>
                          </a:solidFill>
                        </a:rPr>
                        <a:t>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 gridSpan="2">
                  <a:txBody>
                    <a:bodyPr/>
                    <a:lstStyle/>
                    <a:p>
                      <a:pPr algn="l">
                        <a:spcBef>
                          <a:spcPts val="10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Google Coordinates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rPr u="sng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hlinkClick r:id="rId2" invalidUrl="" action="" tgtFrame="" tooltip="" history="1" highlightClick="0" endSnd="0"/>
                        </a:rPr>
                        <a:t>13.171580, 77.340144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Status</a:t>
                      </a:r>
                      <a:r>
                        <a:rPr spc="-50"/>
                        <a:t> </a:t>
                      </a:r>
                      <a:r>
                        <a:t>of</a:t>
                      </a:r>
                      <a:r>
                        <a:rPr spc="-20"/>
                        <a:t> </a:t>
                      </a:r>
                      <a:r>
                        <a:t>Land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Approved For warehousing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1600">
                <a:tc gridSpan="2"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Area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Offered area – 1,15,000 sq. ft.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Rental per sq. ft.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20 INR + GST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Eaves</a:t>
                      </a:r>
                      <a:r>
                        <a:rPr spc="-45"/>
                        <a:t> </a:t>
                      </a:r>
                      <a:r>
                        <a:t>Height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12 Meter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pc="-1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Type</a:t>
                      </a:r>
                      <a:r>
                        <a:rPr spc="-50"/>
                        <a:t> </a:t>
                      </a:r>
                      <a:r>
                        <a:rPr spc="0"/>
                        <a:t>Of</a:t>
                      </a:r>
                      <a:r>
                        <a:rPr spc="-20"/>
                        <a:t> </a:t>
                      </a:r>
                      <a:r>
                        <a:rPr spc="0"/>
                        <a:t>Flooring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500"/>
                        </a:spcBef>
                        <a:defRPr spc="-40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FM-II </a:t>
                      </a:r>
                      <a:r>
                        <a:rPr spc="-5"/>
                        <a:t>Flooring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Floor</a:t>
                      </a:r>
                      <a:r>
                        <a:rPr spc="-40"/>
                        <a:t> </a:t>
                      </a:r>
                      <a:r>
                        <a:t>Load</a:t>
                      </a:r>
                      <a:r>
                        <a:rPr spc="-50"/>
                        <a:t> </a:t>
                      </a:r>
                      <a:r>
                        <a:t>Capacity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500"/>
                        </a:spcBef>
                        <a:def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5</a:t>
                      </a:r>
                      <a:r>
                        <a:rPr spc="-45"/>
                        <a:t> </a:t>
                      </a:r>
                      <a:r>
                        <a:rPr spc="-15"/>
                        <a:t>Tonnes/Sq.</a:t>
                      </a:r>
                      <a:r>
                        <a:rPr spc="-60"/>
                        <a:t> </a:t>
                      </a:r>
                      <a:r>
                        <a:t>Mtr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No. of docks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As per requirement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Canopy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Canopy over docks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Ventilation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Ridge vents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Insulation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Electrical workload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Load – 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Toilets  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 gridSpan="2">
                  <a:txBody>
                    <a:bodyPr/>
                    <a:lstStyle/>
                    <a:p>
                      <a:pPr marR="260350" indent="90805" algn="l">
                        <a:spcBef>
                          <a:spcPts val="7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B</a:t>
                      </a:r>
                      <a:r>
                        <a:rPr spc="5"/>
                        <a:t>u</a:t>
                      </a:r>
                      <a:r>
                        <a:t>i</a:t>
                      </a:r>
                      <a:r>
                        <a:rPr spc="-5"/>
                        <a:t>l</a:t>
                      </a:r>
                      <a:r>
                        <a:rPr spc="-10"/>
                        <a:t>d</a:t>
                      </a:r>
                      <a:r>
                        <a:rPr spc="-15"/>
                        <a:t>i</a:t>
                      </a:r>
                      <a:r>
                        <a:rPr spc="-10"/>
                        <a:t>n</a:t>
                      </a:r>
                      <a:r>
                        <a:t>g</a:t>
                      </a:r>
                      <a:r>
                        <a:rPr spc="-55"/>
                        <a:t> </a:t>
                      </a:r>
                      <a:r>
                        <a:t>Struct</a:t>
                      </a:r>
                      <a:r>
                        <a:rPr spc="5"/>
                        <a:t>u</a:t>
                      </a:r>
                      <a:r>
                        <a:t>ral</a:t>
                      </a:r>
                      <a:r>
                        <a:rPr spc="5"/>
                        <a:t> </a:t>
                      </a:r>
                      <a:r>
                        <a:t>St</a:t>
                      </a:r>
                      <a:r>
                        <a:rPr spc="5"/>
                        <a:t>a</a:t>
                      </a:r>
                      <a:r>
                        <a:t>b</a:t>
                      </a:r>
                      <a:r>
                        <a:rPr spc="-15"/>
                        <a:t>i</a:t>
                      </a:r>
                      <a:r>
                        <a:t>l</a:t>
                      </a:r>
                      <a:r>
                        <a:rPr spc="-20"/>
                        <a:t>i</a:t>
                      </a:r>
                      <a:r>
                        <a:t>ty</a:t>
                      </a:r>
                      <a:r>
                        <a:t> Certificate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Will be 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1600">
                <a:tc gridSpan="2">
                  <a:txBody>
                    <a:bodyPr/>
                    <a:lstStyle/>
                    <a:p>
                      <a:pPr marR="281940" algn="l"/>
                      <a:r>
                        <a: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Fire safety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Hydrant will be installed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50800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Handover timeline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March 2026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pSp>
        <p:nvGrpSpPr>
          <p:cNvPr id="113" name="Group 8"/>
          <p:cNvGrpSpPr/>
          <p:nvPr/>
        </p:nvGrpSpPr>
        <p:grpSpPr>
          <a:xfrm>
            <a:off x="4572000" y="1600200"/>
            <a:ext cx="4419600" cy="4267201"/>
            <a:chOff x="0" y="0"/>
            <a:chExt cx="4419600" cy="4267199"/>
          </a:xfrm>
        </p:grpSpPr>
        <p:pic>
          <p:nvPicPr>
            <p:cNvPr id="111" name="Picture 2" descr="Picture 2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4419600" cy="20737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2" name="Picture 7" descr="Picture 7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2193580"/>
              <a:ext cx="4415555" cy="20736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object 2"/>
          <p:cNvSpPr txBox="1"/>
          <p:nvPr>
            <p:ph type="title"/>
          </p:nvPr>
        </p:nvSpPr>
        <p:spPr>
          <a:xfrm>
            <a:off x="837691" y="481023"/>
            <a:ext cx="7010909" cy="443071"/>
          </a:xfrm>
          <a:prstGeom prst="rect">
            <a:avLst/>
          </a:prstGeom>
        </p:spPr>
        <p:txBody>
          <a:bodyPr/>
          <a:lstStyle/>
          <a:p>
            <a:pPr indent="12700">
              <a:defRPr>
                <a:latin typeface="Carlito"/>
                <a:ea typeface="Carlito"/>
                <a:cs typeface="Carlito"/>
                <a:sym typeface="Carlito"/>
              </a:defRPr>
            </a:pPr>
            <a:r>
              <a:t>4.</a:t>
            </a:r>
            <a:r>
              <a:rPr spc="-100"/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Option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4 - 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Property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Details &amp; Photos</a:t>
            </a:r>
          </a:p>
        </p:txBody>
      </p:sp>
      <p:graphicFrame>
        <p:nvGraphicFramePr>
          <p:cNvPr id="116" name="Table 3"/>
          <p:cNvGraphicFramePr/>
          <p:nvPr/>
        </p:nvGraphicFramePr>
        <p:xfrm>
          <a:off x="152400" y="1147004"/>
          <a:ext cx="4267200" cy="12045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752600"/>
                <a:gridCol w="152400"/>
                <a:gridCol w="2362200"/>
              </a:tblGrid>
              <a:tr h="101600">
                <a:tc>
                  <a:txBody>
                    <a:bodyPr/>
                    <a:lstStyle/>
                    <a:p>
                      <a:pPr algn="l">
                        <a:def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  <a:p>
                      <a:pPr indent="90805" algn="l">
                        <a:defRPr b="1" sz="120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Project name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4273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b="1" spc="-5" sz="120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T.Begur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42739"/>
                    </a:solidFill>
                  </a:tcPr>
                </a:tc>
                <a:tc hMerge="1">
                  <a:tcPr/>
                </a:tc>
              </a:tr>
              <a:tr h="279052">
                <a:tc gridSpan="3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b="1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Building</a:t>
                      </a:r>
                      <a:r>
                        <a:rPr spc="-10"/>
                        <a:t> </a:t>
                      </a:r>
                      <a:r>
                        <a:t>Structural</a:t>
                      </a:r>
                      <a:r>
                        <a:rPr spc="-35"/>
                        <a:t> </a:t>
                      </a:r>
                      <a:r>
                        <a:t>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279052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1000"/>
                        </a:spcBef>
                        <a:defRPr spc="-1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Type</a:t>
                      </a:r>
                      <a:r>
                        <a:rPr spc="-50"/>
                        <a:t> </a:t>
                      </a:r>
                      <a:r>
                        <a:rPr spc="0"/>
                        <a:t>of</a:t>
                      </a:r>
                      <a:r>
                        <a:rPr spc="-25"/>
                        <a:t> </a:t>
                      </a:r>
                      <a:r>
                        <a:rPr spc="0"/>
                        <a:t>Option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1000"/>
                        </a:spcBef>
                        <a:def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Ready to Move </a:t>
                      </a:r>
                      <a:r>
                        <a:rPr>
                          <a:solidFill>
                            <a:srgbClr val="232323"/>
                          </a:solidFill>
                        </a:rPr>
                        <a:t>–</a:t>
                      </a:r>
                      <a:r>
                        <a:rPr spc="5">
                          <a:solidFill>
                            <a:srgbClr val="232323"/>
                          </a:solidFill>
                        </a:rPr>
                        <a:t> </a:t>
                      </a:r>
                      <a:r>
                        <a:rPr>
                          <a:solidFill>
                            <a:srgbClr val="232323"/>
                          </a:solidFill>
                        </a:rPr>
                        <a:t>PEB</a:t>
                      </a:r>
                      <a:r>
                        <a:rPr spc="-10">
                          <a:solidFill>
                            <a:srgbClr val="232323"/>
                          </a:solidFill>
                        </a:rPr>
                        <a:t> </a:t>
                      </a:r>
                      <a:r>
                        <a:rPr>
                          <a:solidFill>
                            <a:srgbClr val="232323"/>
                          </a:solidFill>
                        </a:rPr>
                        <a:t>Struct</a:t>
                      </a:r>
                      <a:r>
                        <a:rPr spc="5">
                          <a:solidFill>
                            <a:srgbClr val="232323"/>
                          </a:solidFill>
                        </a:rPr>
                        <a:t>u</a:t>
                      </a:r>
                      <a:r>
                        <a:rPr>
                          <a:solidFill>
                            <a:srgbClr val="232323"/>
                          </a:solidFill>
                        </a:rPr>
                        <a:t>r</a:t>
                      </a:r>
                      <a:r>
                        <a:rPr spc="5">
                          <a:solidFill>
                            <a:srgbClr val="232323"/>
                          </a:solidFill>
                        </a:rPr>
                        <a:t>e</a:t>
                      </a:r>
                      <a:r>
                        <a:rPr>
                          <a:solidFill>
                            <a:srgbClr val="242739"/>
                          </a:solidFill>
                        </a:rPr>
                        <a:t>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algn="l">
                        <a:spcBef>
                          <a:spcPts val="10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Google Coordinates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defTabSz="457200">
                        <a:defRPr sz="900" u="sng">
                          <a:solidFill>
                            <a:srgbClr val="007B8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13.164608, 77.339833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Status</a:t>
                      </a:r>
                      <a:r>
                        <a:rPr spc="-50"/>
                        <a:t> </a:t>
                      </a:r>
                      <a:r>
                        <a:t>of</a:t>
                      </a:r>
                      <a:r>
                        <a:rPr spc="-20"/>
                        <a:t> </a:t>
                      </a:r>
                      <a:r>
                        <a:t>Land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Approved For warehousing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1600">
                <a:tc gridSpan="2"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Area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Offered area – 1,24,000 sq. ft.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Rental per sq. ft.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27 INR + GST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Eaves</a:t>
                      </a:r>
                      <a:r>
                        <a:rPr spc="-45"/>
                        <a:t> </a:t>
                      </a:r>
                      <a:r>
                        <a:t>Height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11.5 Meter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pc="-1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Type</a:t>
                      </a:r>
                      <a:r>
                        <a:rPr spc="-50"/>
                        <a:t> </a:t>
                      </a:r>
                      <a:r>
                        <a:rPr spc="0"/>
                        <a:t>Of</a:t>
                      </a:r>
                      <a:r>
                        <a:rPr spc="-20"/>
                        <a:t> </a:t>
                      </a:r>
                      <a:r>
                        <a:rPr spc="0"/>
                        <a:t>Flooring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500"/>
                        </a:spcBef>
                        <a:defRPr spc="-40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FM-II </a:t>
                      </a:r>
                      <a:r>
                        <a:rPr spc="-5"/>
                        <a:t>Flooring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Floor</a:t>
                      </a:r>
                      <a:r>
                        <a:rPr spc="-40"/>
                        <a:t> </a:t>
                      </a:r>
                      <a:r>
                        <a:t>Load</a:t>
                      </a:r>
                      <a:r>
                        <a:rPr spc="-50"/>
                        <a:t> </a:t>
                      </a:r>
                      <a:r>
                        <a:t>Capacity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500"/>
                        </a:spcBef>
                        <a:def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7-8</a:t>
                      </a:r>
                      <a:r>
                        <a:rPr spc="-45"/>
                        <a:t> </a:t>
                      </a:r>
                      <a:r>
                        <a:rPr spc="-15"/>
                        <a:t>Tonnes/Sq.</a:t>
                      </a:r>
                      <a:r>
                        <a:rPr spc="-60"/>
                        <a:t> </a:t>
                      </a:r>
                      <a:r>
                        <a:t>Mtr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No. of docks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As per requirement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Canopy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Canopy over docks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Ventilation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Ridge vents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Insulation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Electrical workload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Load – 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Toilets  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marR="260350" indent="90805" algn="l">
                        <a:spcBef>
                          <a:spcPts val="7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B</a:t>
                      </a:r>
                      <a:r>
                        <a:rPr spc="5"/>
                        <a:t>u</a:t>
                      </a:r>
                      <a:r>
                        <a:t>i</a:t>
                      </a:r>
                      <a:r>
                        <a:rPr spc="-5"/>
                        <a:t>l</a:t>
                      </a:r>
                      <a:r>
                        <a:rPr spc="-10"/>
                        <a:t>d</a:t>
                      </a:r>
                      <a:r>
                        <a:rPr spc="-15"/>
                        <a:t>i</a:t>
                      </a:r>
                      <a:r>
                        <a:rPr spc="-10"/>
                        <a:t>n</a:t>
                      </a:r>
                      <a:r>
                        <a:t>g</a:t>
                      </a:r>
                      <a:r>
                        <a:rPr spc="-55"/>
                        <a:t> </a:t>
                      </a:r>
                      <a:r>
                        <a:t>Struct</a:t>
                      </a:r>
                      <a:r>
                        <a:rPr spc="5"/>
                        <a:t>u</a:t>
                      </a:r>
                      <a:r>
                        <a:t>ral</a:t>
                      </a:r>
                      <a:r>
                        <a:rPr spc="5"/>
                        <a:t> </a:t>
                      </a:r>
                      <a:r>
                        <a:t>St</a:t>
                      </a:r>
                      <a:r>
                        <a:rPr spc="5"/>
                        <a:t>a</a:t>
                      </a:r>
                      <a:r>
                        <a:t>b</a:t>
                      </a:r>
                      <a:r>
                        <a:rPr spc="-15"/>
                        <a:t>i</a:t>
                      </a:r>
                      <a:r>
                        <a:t>l</a:t>
                      </a:r>
                      <a:r>
                        <a:rPr spc="-20"/>
                        <a:t>i</a:t>
                      </a:r>
                      <a:r>
                        <a:t>ty</a:t>
                      </a:r>
                      <a:r>
                        <a:t> Certificate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Will be 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1600">
                <a:tc gridSpan="2">
                  <a:txBody>
                    <a:bodyPr/>
                    <a:lstStyle/>
                    <a:p>
                      <a:pPr marR="281940" algn="l"/>
                      <a:r>
                        <a: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Fire safety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Hydrants + Sprinklers &amp; Fire Advisory Certificate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Handover timeline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Immediate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17" name="Image 0" descr="Image 0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90542" y="1177125"/>
            <a:ext cx="4279901" cy="29132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Image 1" descr="Image 1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53948" y="4175300"/>
            <a:ext cx="4153089" cy="25075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object 2"/>
          <p:cNvSpPr txBox="1"/>
          <p:nvPr>
            <p:ph type="title"/>
          </p:nvPr>
        </p:nvSpPr>
        <p:spPr>
          <a:xfrm>
            <a:off x="837691" y="481023"/>
            <a:ext cx="7010909" cy="443071"/>
          </a:xfrm>
          <a:prstGeom prst="rect">
            <a:avLst/>
          </a:prstGeom>
        </p:spPr>
        <p:txBody>
          <a:bodyPr/>
          <a:lstStyle/>
          <a:p>
            <a:pPr indent="12700">
              <a:defRPr>
                <a:latin typeface="Carlito"/>
                <a:ea typeface="Carlito"/>
                <a:cs typeface="Carlito"/>
                <a:sym typeface="Carlito"/>
              </a:defRPr>
            </a:pPr>
            <a:r>
              <a:t>5.</a:t>
            </a:r>
            <a:r>
              <a:rPr spc="-100"/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Option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5 - 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Property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Details &amp; Photos</a:t>
            </a:r>
          </a:p>
        </p:txBody>
      </p:sp>
      <p:graphicFrame>
        <p:nvGraphicFramePr>
          <p:cNvPr id="121" name="Table 3"/>
          <p:cNvGraphicFramePr/>
          <p:nvPr/>
        </p:nvGraphicFramePr>
        <p:xfrm>
          <a:off x="152400" y="1147004"/>
          <a:ext cx="4267200" cy="12045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752600"/>
                <a:gridCol w="152400"/>
                <a:gridCol w="2362200"/>
              </a:tblGrid>
              <a:tr h="101600">
                <a:tc>
                  <a:txBody>
                    <a:bodyPr/>
                    <a:lstStyle/>
                    <a:p>
                      <a:pPr algn="l">
                        <a:def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  <a:p>
                      <a:pPr indent="90805" algn="l">
                        <a:defRPr b="1" sz="120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Project name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4273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b="1" spc="-5" sz="120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T.Begur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42739"/>
                    </a:solidFill>
                  </a:tcPr>
                </a:tc>
                <a:tc hMerge="1">
                  <a:tcPr/>
                </a:tc>
              </a:tr>
              <a:tr h="279052">
                <a:tc gridSpan="3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b="1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Building</a:t>
                      </a:r>
                      <a:r>
                        <a:rPr spc="-10"/>
                        <a:t> </a:t>
                      </a:r>
                      <a:r>
                        <a:t>Structural</a:t>
                      </a:r>
                      <a:r>
                        <a:rPr spc="-35"/>
                        <a:t> </a:t>
                      </a:r>
                      <a:r>
                        <a:t>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279052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1000"/>
                        </a:spcBef>
                        <a:defRPr spc="-1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Type</a:t>
                      </a:r>
                      <a:r>
                        <a:rPr spc="-50"/>
                        <a:t> </a:t>
                      </a:r>
                      <a:r>
                        <a:rPr spc="0"/>
                        <a:t>of</a:t>
                      </a:r>
                      <a:r>
                        <a:rPr spc="-25"/>
                        <a:t> </a:t>
                      </a:r>
                      <a:r>
                        <a:rPr spc="0"/>
                        <a:t>Option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1000"/>
                        </a:spcBef>
                        <a:def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Ready to Move </a:t>
                      </a:r>
                      <a:r>
                        <a:rPr>
                          <a:solidFill>
                            <a:srgbClr val="232323"/>
                          </a:solidFill>
                        </a:rPr>
                        <a:t>–</a:t>
                      </a:r>
                      <a:r>
                        <a:rPr spc="5">
                          <a:solidFill>
                            <a:srgbClr val="232323"/>
                          </a:solidFill>
                        </a:rPr>
                        <a:t> </a:t>
                      </a:r>
                      <a:r>
                        <a:rPr>
                          <a:solidFill>
                            <a:srgbClr val="232323"/>
                          </a:solidFill>
                        </a:rPr>
                        <a:t>PEB</a:t>
                      </a:r>
                      <a:r>
                        <a:rPr spc="-10">
                          <a:solidFill>
                            <a:srgbClr val="232323"/>
                          </a:solidFill>
                        </a:rPr>
                        <a:t> </a:t>
                      </a:r>
                      <a:r>
                        <a:rPr>
                          <a:solidFill>
                            <a:srgbClr val="232323"/>
                          </a:solidFill>
                        </a:rPr>
                        <a:t>Struct</a:t>
                      </a:r>
                      <a:r>
                        <a:rPr spc="5">
                          <a:solidFill>
                            <a:srgbClr val="232323"/>
                          </a:solidFill>
                        </a:rPr>
                        <a:t>u</a:t>
                      </a:r>
                      <a:r>
                        <a:rPr>
                          <a:solidFill>
                            <a:srgbClr val="232323"/>
                          </a:solidFill>
                        </a:rPr>
                        <a:t>r</a:t>
                      </a:r>
                      <a:r>
                        <a:rPr spc="5">
                          <a:solidFill>
                            <a:srgbClr val="232323"/>
                          </a:solidFill>
                        </a:rPr>
                        <a:t>e</a:t>
                      </a:r>
                      <a:r>
                        <a:rPr>
                          <a:solidFill>
                            <a:srgbClr val="242739"/>
                          </a:solidFill>
                        </a:rPr>
                        <a:t>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algn="l">
                        <a:spcBef>
                          <a:spcPts val="10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Google Coordinates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defTabSz="457200">
                        <a:defRPr sz="900">
                          <a:solidFill>
                            <a:srgbClr val="007B8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13.198859, 77.240291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Status</a:t>
                      </a:r>
                      <a:r>
                        <a:rPr spc="-50"/>
                        <a:t> </a:t>
                      </a:r>
                      <a:r>
                        <a:t>of</a:t>
                      </a:r>
                      <a:r>
                        <a:rPr spc="-20"/>
                        <a:t> </a:t>
                      </a:r>
                      <a:r>
                        <a:t>Land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Approved For warehousing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1600">
                <a:tc gridSpan="2"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Area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Offered area – 1,58,000 sq. ft.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Rental per sq. ft.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27 INR + GST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Eaves</a:t>
                      </a:r>
                      <a:r>
                        <a:rPr spc="-45"/>
                        <a:t> </a:t>
                      </a:r>
                      <a:r>
                        <a:t>Height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12 Meter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pc="-1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Type</a:t>
                      </a:r>
                      <a:r>
                        <a:rPr spc="-50"/>
                        <a:t> </a:t>
                      </a:r>
                      <a:r>
                        <a:rPr spc="0"/>
                        <a:t>Of</a:t>
                      </a:r>
                      <a:r>
                        <a:rPr spc="-20"/>
                        <a:t> </a:t>
                      </a:r>
                      <a:r>
                        <a:rPr spc="0"/>
                        <a:t>Flooring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500"/>
                        </a:spcBef>
                        <a:defRPr spc="-40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FM-II </a:t>
                      </a:r>
                      <a:r>
                        <a:rPr spc="-5"/>
                        <a:t>Flooring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Floor</a:t>
                      </a:r>
                      <a:r>
                        <a:rPr spc="-40"/>
                        <a:t> </a:t>
                      </a:r>
                      <a:r>
                        <a:t>Load</a:t>
                      </a:r>
                      <a:r>
                        <a:rPr spc="-50"/>
                        <a:t> </a:t>
                      </a:r>
                      <a:r>
                        <a:t>Capacity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500"/>
                        </a:spcBef>
                        <a:def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7-8</a:t>
                      </a:r>
                      <a:r>
                        <a:rPr spc="-45"/>
                        <a:t> </a:t>
                      </a:r>
                      <a:r>
                        <a:rPr spc="-15"/>
                        <a:t>Tonnes/Sq.</a:t>
                      </a:r>
                      <a:r>
                        <a:rPr spc="-60"/>
                        <a:t> </a:t>
                      </a:r>
                      <a:r>
                        <a:t>Mtr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No. of docks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As per requirement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Canopy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Canopy over docks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Ventilation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Ridge vents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Insulation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Electrical workload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Load – 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Toilets  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marR="260350" indent="90805" algn="l">
                        <a:spcBef>
                          <a:spcPts val="7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B</a:t>
                      </a:r>
                      <a:r>
                        <a:rPr spc="5"/>
                        <a:t>u</a:t>
                      </a:r>
                      <a:r>
                        <a:t>i</a:t>
                      </a:r>
                      <a:r>
                        <a:rPr spc="-5"/>
                        <a:t>l</a:t>
                      </a:r>
                      <a:r>
                        <a:rPr spc="-10"/>
                        <a:t>d</a:t>
                      </a:r>
                      <a:r>
                        <a:rPr spc="-15"/>
                        <a:t>i</a:t>
                      </a:r>
                      <a:r>
                        <a:rPr spc="-10"/>
                        <a:t>n</a:t>
                      </a:r>
                      <a:r>
                        <a:t>g</a:t>
                      </a:r>
                      <a:r>
                        <a:rPr spc="-55"/>
                        <a:t> </a:t>
                      </a:r>
                      <a:r>
                        <a:t>Struct</a:t>
                      </a:r>
                      <a:r>
                        <a:rPr spc="5"/>
                        <a:t>u</a:t>
                      </a:r>
                      <a:r>
                        <a:t>ral</a:t>
                      </a:r>
                      <a:r>
                        <a:rPr spc="5"/>
                        <a:t> </a:t>
                      </a:r>
                      <a:r>
                        <a:t>St</a:t>
                      </a:r>
                      <a:r>
                        <a:rPr spc="5"/>
                        <a:t>a</a:t>
                      </a:r>
                      <a:r>
                        <a:t>b</a:t>
                      </a:r>
                      <a:r>
                        <a:rPr spc="-15"/>
                        <a:t>i</a:t>
                      </a:r>
                      <a:r>
                        <a:t>l</a:t>
                      </a:r>
                      <a:r>
                        <a:rPr spc="-20"/>
                        <a:t>i</a:t>
                      </a:r>
                      <a:r>
                        <a:t>ty</a:t>
                      </a:r>
                      <a:r>
                        <a:t> Certificate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Will be 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1600">
                <a:tc gridSpan="2">
                  <a:txBody>
                    <a:bodyPr/>
                    <a:lstStyle/>
                    <a:p>
                      <a:pPr marR="281940" algn="l"/>
                      <a:r>
                        <a: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Fire safety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Hydrants+Sprinklers &amp; NOC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Handover timeline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Immediate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2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89000" y="1209048"/>
            <a:ext cx="3657601" cy="25603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889000" y="4054321"/>
            <a:ext cx="3657601" cy="2560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object 2"/>
          <p:cNvSpPr txBox="1"/>
          <p:nvPr>
            <p:ph type="title"/>
          </p:nvPr>
        </p:nvSpPr>
        <p:spPr>
          <a:xfrm>
            <a:off x="837691" y="481023"/>
            <a:ext cx="7010909" cy="443071"/>
          </a:xfrm>
          <a:prstGeom prst="rect">
            <a:avLst/>
          </a:prstGeom>
        </p:spPr>
        <p:txBody>
          <a:bodyPr/>
          <a:lstStyle/>
          <a:p>
            <a:pPr indent="12700">
              <a:defRPr>
                <a:latin typeface="Carlito"/>
                <a:ea typeface="Carlito"/>
                <a:cs typeface="Carlito"/>
                <a:sym typeface="Carlito"/>
              </a:defRPr>
            </a:pPr>
            <a:r>
              <a:t>6.</a:t>
            </a:r>
            <a:r>
              <a:rPr spc="-100"/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Option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6 </a:t>
            </a:r>
            <a:r>
              <a:rPr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Property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Details &amp; Photos</a:t>
            </a:r>
          </a:p>
        </p:txBody>
      </p:sp>
      <p:graphicFrame>
        <p:nvGraphicFramePr>
          <p:cNvPr id="126" name="Table 3"/>
          <p:cNvGraphicFramePr/>
          <p:nvPr/>
        </p:nvGraphicFramePr>
        <p:xfrm>
          <a:off x="152400" y="1147004"/>
          <a:ext cx="4267200" cy="12045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752600"/>
                <a:gridCol w="2514600"/>
              </a:tblGrid>
              <a:tr h="101600">
                <a:tc>
                  <a:txBody>
                    <a:bodyPr/>
                    <a:lstStyle/>
                    <a:p>
                      <a:pPr algn="l">
                        <a:def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  <a:p>
                      <a:pPr indent="90805" algn="l">
                        <a:defRPr b="1" sz="120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Project name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427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pc="-5" sz="120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 Begur Taluk Nelamangala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42739"/>
                    </a:solidFill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b="1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Building</a:t>
                      </a:r>
                      <a:r>
                        <a:rPr spc="-10"/>
                        <a:t> </a:t>
                      </a:r>
                      <a:r>
                        <a:t>Structural</a:t>
                      </a:r>
                      <a:r>
                        <a:rPr spc="-35"/>
                        <a:t> </a:t>
                      </a:r>
                      <a:r>
                        <a:t>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</a:tr>
              <a:tr h="279052">
                <a:tc>
                  <a:txBody>
                    <a:bodyPr/>
                    <a:lstStyle/>
                    <a:p>
                      <a:pPr indent="90805" algn="l">
                        <a:spcBef>
                          <a:spcPts val="1000"/>
                        </a:spcBef>
                        <a:defRPr spc="-1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Type</a:t>
                      </a:r>
                      <a:r>
                        <a:rPr spc="-50"/>
                        <a:t> </a:t>
                      </a:r>
                      <a:r>
                        <a:rPr spc="0"/>
                        <a:t>of</a:t>
                      </a:r>
                      <a:r>
                        <a:rPr spc="-25"/>
                        <a:t> </a:t>
                      </a:r>
                      <a:r>
                        <a:rPr spc="0"/>
                        <a:t>Option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1000"/>
                        </a:spcBef>
                        <a:defRPr sz="1200">
                          <a:solidFill>
                            <a:srgbClr val="232323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Re</a:t>
                      </a:r>
                      <a:r>
                        <a:rPr spc="5"/>
                        <a:t>a</a:t>
                      </a:r>
                      <a:r>
                        <a:t>dy</a:t>
                      </a:r>
                      <a:r>
                        <a:rPr spc="-50"/>
                        <a:t> </a:t>
                      </a:r>
                      <a:r>
                        <a:rPr spc="-125"/>
                        <a:t>T</a:t>
                      </a:r>
                      <a:r>
                        <a:t>o</a:t>
                      </a:r>
                      <a:r>
                        <a:rPr spc="-10"/>
                        <a:t> </a:t>
                      </a:r>
                      <a:r>
                        <a:rPr spc="-5"/>
                        <a:t>M</a:t>
                      </a:r>
                      <a:r>
                        <a:t>o</a:t>
                      </a:r>
                      <a:r>
                        <a:rPr spc="-15"/>
                        <a:t>v</a:t>
                      </a:r>
                      <a:r>
                        <a:t>e –</a:t>
                      </a:r>
                      <a:r>
                        <a:rPr spc="5"/>
                        <a:t> </a:t>
                      </a:r>
                      <a:r>
                        <a:t>PEB</a:t>
                      </a:r>
                      <a:r>
                        <a:rPr spc="-10"/>
                        <a:t> </a:t>
                      </a:r>
                      <a:r>
                        <a:t>Struct</a:t>
                      </a:r>
                      <a:r>
                        <a:rPr spc="5"/>
                        <a:t>u</a:t>
                      </a:r>
                      <a:r>
                        <a:t>r</a:t>
                      </a:r>
                      <a:r>
                        <a:rPr spc="5"/>
                        <a:t>e</a:t>
                      </a:r>
                      <a:r>
                        <a:rPr>
                          <a:solidFill>
                            <a:srgbClr val="242739"/>
                          </a:solidFill>
                        </a:rPr>
                        <a:t>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10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Google Coordinates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rPr u="sng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hlinkClick r:id="rId2" invalidUrl="" action="" tgtFrame="" tooltip="" history="1" highlightClick="0" endSnd="0"/>
                        </a:rPr>
                        <a:t>https://maps.app.goo.gl/daid6U2ZRocDZwT29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Status</a:t>
                      </a:r>
                      <a:r>
                        <a:rPr spc="-50"/>
                        <a:t> </a:t>
                      </a:r>
                      <a:r>
                        <a:t>of</a:t>
                      </a:r>
                      <a:r>
                        <a:rPr spc="-20"/>
                        <a:t> </a:t>
                      </a:r>
                      <a:r>
                        <a:t>Land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Approved For warehousing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Area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Offered area – 1,00,000 sq. ft.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Rental per sq. ft.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20 INR + GST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Eaves</a:t>
                      </a:r>
                      <a:r>
                        <a:rPr spc="-45"/>
                        <a:t> </a:t>
                      </a:r>
                      <a:r>
                        <a:t>Height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11 Meter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pc="-1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Type</a:t>
                      </a:r>
                      <a:r>
                        <a:rPr spc="-50"/>
                        <a:t> </a:t>
                      </a:r>
                      <a:r>
                        <a:rPr spc="0"/>
                        <a:t>Of</a:t>
                      </a:r>
                      <a:r>
                        <a:rPr spc="-20"/>
                        <a:t> </a:t>
                      </a:r>
                      <a:r>
                        <a:rPr spc="0"/>
                        <a:t>Flooring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500"/>
                        </a:spcBef>
                        <a:defRPr spc="-40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VDF </a:t>
                      </a:r>
                      <a:r>
                        <a:rPr spc="-5"/>
                        <a:t>Flooring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Floor</a:t>
                      </a:r>
                      <a:r>
                        <a:rPr spc="-40"/>
                        <a:t> </a:t>
                      </a:r>
                      <a:r>
                        <a:t>Load</a:t>
                      </a:r>
                      <a:r>
                        <a:rPr spc="-50"/>
                        <a:t> </a:t>
                      </a:r>
                      <a:r>
                        <a:t>Capacity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500"/>
                        </a:spcBef>
                        <a:def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5</a:t>
                      </a:r>
                      <a:r>
                        <a:rPr spc="-45"/>
                        <a:t> </a:t>
                      </a:r>
                      <a:r>
                        <a:rPr spc="-15"/>
                        <a:t>Tonnes/Sq.</a:t>
                      </a:r>
                      <a:r>
                        <a:rPr spc="-60"/>
                        <a:t> </a:t>
                      </a:r>
                      <a:r>
                        <a:t>Mtr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No. of docks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10 Nos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Canopy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Running Canopy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Ventilation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Ridge vents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Insulation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Electrical workload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Load – 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Toilets  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marR="260350" indent="90805" algn="l">
                        <a:spcBef>
                          <a:spcPts val="7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B</a:t>
                      </a:r>
                      <a:r>
                        <a:rPr spc="5"/>
                        <a:t>u</a:t>
                      </a:r>
                      <a:r>
                        <a:t>i</a:t>
                      </a:r>
                      <a:r>
                        <a:rPr spc="-5"/>
                        <a:t>l</a:t>
                      </a:r>
                      <a:r>
                        <a:rPr spc="-10"/>
                        <a:t>d</a:t>
                      </a:r>
                      <a:r>
                        <a:rPr spc="-15"/>
                        <a:t>i</a:t>
                      </a:r>
                      <a:r>
                        <a:rPr spc="-10"/>
                        <a:t>n</a:t>
                      </a:r>
                      <a:r>
                        <a:t>g</a:t>
                      </a:r>
                      <a:r>
                        <a:rPr spc="-55"/>
                        <a:t> </a:t>
                      </a:r>
                      <a:r>
                        <a:t>Struct</a:t>
                      </a:r>
                      <a:r>
                        <a:rPr spc="5"/>
                        <a:t>u</a:t>
                      </a:r>
                      <a:r>
                        <a:t>ral</a:t>
                      </a:r>
                      <a:r>
                        <a:rPr spc="5"/>
                        <a:t> </a:t>
                      </a:r>
                      <a:r>
                        <a:t>St</a:t>
                      </a:r>
                      <a:r>
                        <a:rPr spc="5"/>
                        <a:t>a</a:t>
                      </a:r>
                      <a:r>
                        <a:t>b</a:t>
                      </a:r>
                      <a:r>
                        <a:rPr spc="-15"/>
                        <a:t>i</a:t>
                      </a:r>
                      <a:r>
                        <a:t>l</a:t>
                      </a:r>
                      <a:r>
                        <a:rPr spc="-20"/>
                        <a:t>i</a:t>
                      </a:r>
                      <a:r>
                        <a:t>ty</a:t>
                      </a:r>
                      <a:r>
                        <a:t> Certificate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R="281940" algn="l"/>
                      <a:r>
                        <a: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Fire safety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Hydrant 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Handover timeline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Immediate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27" name="Image 0" descr="Image 0"/>
          <p:cNvPicPr>
            <a:picLocks noChangeAspect="0"/>
          </p:cNvPicPr>
          <p:nvPr/>
        </p:nvPicPr>
        <p:blipFill>
          <a:blip r:embed="rId3">
            <a:extLst/>
          </a:blip>
          <a:srcRect l="0" t="12804" r="0" b="0"/>
          <a:stretch>
            <a:fillRect/>
          </a:stretch>
        </p:blipFill>
        <p:spPr>
          <a:xfrm>
            <a:off x="4597513" y="1209047"/>
            <a:ext cx="4279901" cy="25971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Image 1" descr="Image 1"/>
          <p:cNvPicPr>
            <a:picLocks noChangeAspect="0"/>
          </p:cNvPicPr>
          <p:nvPr/>
        </p:nvPicPr>
        <p:blipFill>
          <a:blip r:embed="rId4">
            <a:extLst/>
          </a:blip>
          <a:srcRect l="0" t="14418" r="0" b="14418"/>
          <a:stretch>
            <a:fillRect/>
          </a:stretch>
        </p:blipFill>
        <p:spPr>
          <a:xfrm>
            <a:off x="4681254" y="3832511"/>
            <a:ext cx="4112446" cy="29624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object 2"/>
          <p:cNvSpPr txBox="1"/>
          <p:nvPr>
            <p:ph type="title"/>
          </p:nvPr>
        </p:nvSpPr>
        <p:spPr>
          <a:xfrm>
            <a:off x="837691" y="354023"/>
            <a:ext cx="7010909" cy="443071"/>
          </a:xfrm>
          <a:prstGeom prst="rect">
            <a:avLst/>
          </a:prstGeom>
        </p:spPr>
        <p:txBody>
          <a:bodyPr/>
          <a:lstStyle/>
          <a:p>
            <a:pPr indent="12700">
              <a:defRPr>
                <a:latin typeface="Carlito"/>
                <a:ea typeface="Carlito"/>
                <a:cs typeface="Carlito"/>
                <a:sym typeface="Carlito"/>
              </a:defRPr>
            </a:pPr>
            <a:r>
              <a:t>7.</a:t>
            </a:r>
            <a:r>
              <a:rPr spc="-100"/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Option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7 </a:t>
            </a:r>
            <a:r>
              <a:rPr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Property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Details &amp; Photos</a:t>
            </a:r>
          </a:p>
        </p:txBody>
      </p:sp>
      <p:graphicFrame>
        <p:nvGraphicFramePr>
          <p:cNvPr id="131" name="Table 3"/>
          <p:cNvGraphicFramePr/>
          <p:nvPr/>
        </p:nvGraphicFramePr>
        <p:xfrm>
          <a:off x="152400" y="918404"/>
          <a:ext cx="4716551" cy="597706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931938"/>
                <a:gridCol w="2771911"/>
              </a:tblGrid>
              <a:tr h="101600">
                <a:tc>
                  <a:txBody>
                    <a:bodyPr/>
                    <a:lstStyle/>
                    <a:p>
                      <a:pPr algn="l">
                        <a:def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  <a:p>
                      <a:pPr indent="90805" algn="l">
                        <a:defRPr b="1" sz="120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Project name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427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pc="-5" sz="120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 Begur Taluk Nelamangala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42739"/>
                    </a:solidFill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b="1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Building</a:t>
                      </a:r>
                      <a:r>
                        <a:rPr spc="-10"/>
                        <a:t> </a:t>
                      </a:r>
                      <a:r>
                        <a:t>Structural</a:t>
                      </a:r>
                      <a:r>
                        <a:rPr spc="-35"/>
                        <a:t> </a:t>
                      </a:r>
                      <a:r>
                        <a:t>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</a:tr>
              <a:tr h="279052">
                <a:tc>
                  <a:txBody>
                    <a:bodyPr/>
                    <a:lstStyle/>
                    <a:p>
                      <a:pPr indent="90805" algn="l">
                        <a:spcBef>
                          <a:spcPts val="1000"/>
                        </a:spcBef>
                        <a:defRPr spc="-1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Type</a:t>
                      </a:r>
                      <a:r>
                        <a:rPr spc="-50"/>
                        <a:t> </a:t>
                      </a:r>
                      <a:r>
                        <a:rPr spc="0"/>
                        <a:t>of</a:t>
                      </a:r>
                      <a:r>
                        <a:rPr spc="-25"/>
                        <a:t> </a:t>
                      </a:r>
                      <a:r>
                        <a:rPr spc="0"/>
                        <a:t>Option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1000"/>
                        </a:spcBef>
                        <a:defRPr sz="1200">
                          <a:solidFill>
                            <a:srgbClr val="232323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Under Construction –</a:t>
                      </a:r>
                      <a:r>
                        <a:rPr spc="5"/>
                        <a:t> </a:t>
                      </a:r>
                      <a:r>
                        <a:t>PEB</a:t>
                      </a:r>
                      <a:r>
                        <a:rPr spc="-10"/>
                        <a:t> </a:t>
                      </a:r>
                      <a:r>
                        <a:t>Struct</a:t>
                      </a:r>
                      <a:r>
                        <a:rPr spc="5"/>
                        <a:t>u</a:t>
                      </a:r>
                      <a:r>
                        <a:t>r</a:t>
                      </a:r>
                      <a:r>
                        <a:rPr spc="5"/>
                        <a:t>e</a:t>
                      </a:r>
                      <a:r>
                        <a:rPr>
                          <a:solidFill>
                            <a:srgbClr val="242739"/>
                          </a:solidFill>
                        </a:rPr>
                        <a:t>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10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Google Coordinates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900" u="sng">
                          <a:solidFill>
                            <a:srgbClr val="007B8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13.147689, 77.352978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Status</a:t>
                      </a:r>
                      <a:r>
                        <a:rPr spc="-50"/>
                        <a:t> </a:t>
                      </a:r>
                      <a:r>
                        <a:t>of</a:t>
                      </a:r>
                      <a:r>
                        <a:rPr spc="-20"/>
                        <a:t> </a:t>
                      </a:r>
                      <a:r>
                        <a:t>Land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Approved For warehousing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Area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Offered area – 1,06,000 sq. ft. + 70,000 sq.ft 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Rental per sq. ft.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20 INR + GST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Eaves</a:t>
                      </a:r>
                      <a:r>
                        <a:rPr spc="-45"/>
                        <a:t> </a:t>
                      </a:r>
                      <a:r>
                        <a:t>Height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11 Meter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pc="-1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Type</a:t>
                      </a:r>
                      <a:r>
                        <a:rPr spc="-50"/>
                        <a:t> </a:t>
                      </a:r>
                      <a:r>
                        <a:rPr spc="0"/>
                        <a:t>Of</a:t>
                      </a:r>
                      <a:r>
                        <a:rPr spc="-20"/>
                        <a:t> </a:t>
                      </a:r>
                      <a:r>
                        <a:rPr spc="0"/>
                        <a:t>Flooring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pc="-40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As per requirement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Floor</a:t>
                      </a:r>
                      <a:r>
                        <a:rPr spc="-40"/>
                        <a:t> </a:t>
                      </a:r>
                      <a:r>
                        <a:t>Load</a:t>
                      </a:r>
                      <a:r>
                        <a:rPr spc="-50"/>
                        <a:t> </a:t>
                      </a:r>
                      <a:r>
                        <a:t>Capacity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As per requirement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No. of docks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 plus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Canopy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Running Canopy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Ventilation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As per requirement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Insulation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As per requirement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Electrical workload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Load – 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Toilets  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marR="260350" indent="90805" algn="l">
                        <a:spcBef>
                          <a:spcPts val="7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B</a:t>
                      </a:r>
                      <a:r>
                        <a:rPr spc="5"/>
                        <a:t>u</a:t>
                      </a:r>
                      <a:r>
                        <a:t>i</a:t>
                      </a:r>
                      <a:r>
                        <a:rPr spc="-5"/>
                        <a:t>l</a:t>
                      </a:r>
                      <a:r>
                        <a:rPr spc="-10"/>
                        <a:t>d</a:t>
                      </a:r>
                      <a:r>
                        <a:rPr spc="-15"/>
                        <a:t>i</a:t>
                      </a:r>
                      <a:r>
                        <a:rPr spc="-10"/>
                        <a:t>n</a:t>
                      </a:r>
                      <a:r>
                        <a:t>g</a:t>
                      </a:r>
                      <a:r>
                        <a:rPr spc="-55"/>
                        <a:t> </a:t>
                      </a:r>
                      <a:r>
                        <a:t>Struct</a:t>
                      </a:r>
                      <a:r>
                        <a:rPr spc="5"/>
                        <a:t>u</a:t>
                      </a:r>
                      <a:r>
                        <a:t>ral</a:t>
                      </a:r>
                      <a:r>
                        <a:rPr spc="5"/>
                        <a:t> </a:t>
                      </a:r>
                      <a:r>
                        <a:t>St</a:t>
                      </a:r>
                      <a:r>
                        <a:rPr spc="5"/>
                        <a:t>a</a:t>
                      </a:r>
                      <a:r>
                        <a:t>b</a:t>
                      </a:r>
                      <a:r>
                        <a:rPr spc="-15"/>
                        <a:t>i</a:t>
                      </a:r>
                      <a:r>
                        <a:t>l</a:t>
                      </a:r>
                      <a:r>
                        <a:rPr spc="-20"/>
                        <a:t>i</a:t>
                      </a:r>
                      <a:r>
                        <a:t>ty</a:t>
                      </a:r>
                      <a:r>
                        <a:t> Certificate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R="281940" algn="l"/>
                      <a:r>
                        <a: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Fire safety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Hydrant 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Handover timeline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1,06,000 sft - May 2026;  70,000 sft - August 2026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32" name="Image 0" descr="Image 0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6828" y="1180297"/>
            <a:ext cx="4044816" cy="28325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Image 1" descr="Image 1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56736" y="4001308"/>
            <a:ext cx="3882018" cy="270987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object 2"/>
          <p:cNvSpPr txBox="1"/>
          <p:nvPr>
            <p:ph type="title"/>
          </p:nvPr>
        </p:nvSpPr>
        <p:spPr>
          <a:xfrm>
            <a:off x="837691" y="481023"/>
            <a:ext cx="7010909" cy="443071"/>
          </a:xfrm>
          <a:prstGeom prst="rect">
            <a:avLst/>
          </a:prstGeom>
        </p:spPr>
        <p:txBody>
          <a:bodyPr/>
          <a:lstStyle/>
          <a:p>
            <a:pPr indent="12700">
              <a:defRPr>
                <a:latin typeface="Carlito"/>
                <a:ea typeface="Carlito"/>
                <a:cs typeface="Carlito"/>
                <a:sym typeface="Carlito"/>
              </a:defRPr>
            </a:pPr>
            <a:r>
              <a:t>8.</a:t>
            </a:r>
            <a:r>
              <a:rPr spc="-100"/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Option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8 </a:t>
            </a:r>
            <a:r>
              <a:rPr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Property</a:t>
            </a:r>
            <a:r>
              <a:rPr spc="-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100">
                <a:latin typeface="Arial"/>
                <a:ea typeface="Arial"/>
                <a:cs typeface="Arial"/>
                <a:sym typeface="Arial"/>
              </a:rPr>
              <a:t>Details &amp; Photos</a:t>
            </a:r>
          </a:p>
        </p:txBody>
      </p:sp>
      <p:graphicFrame>
        <p:nvGraphicFramePr>
          <p:cNvPr id="136" name="Table 3"/>
          <p:cNvGraphicFramePr/>
          <p:nvPr/>
        </p:nvGraphicFramePr>
        <p:xfrm>
          <a:off x="152400" y="1040941"/>
          <a:ext cx="4677649" cy="597706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915961"/>
                <a:gridCol w="2748987"/>
              </a:tblGrid>
              <a:tr h="101600">
                <a:tc>
                  <a:txBody>
                    <a:bodyPr/>
                    <a:lstStyle/>
                    <a:p>
                      <a:pPr algn="l">
                        <a:def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  <a:p>
                      <a:pPr indent="90805" algn="l">
                        <a:defRPr b="1" sz="120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Project name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427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pc="-5" sz="120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 Begur Taluk Nelamangala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42739"/>
                    </a:solidFill>
                  </a:tcPr>
                </a:tc>
              </a:tr>
              <a:tr h="279052">
                <a:tc gridSpan="2"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b="1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Building</a:t>
                      </a:r>
                      <a:r>
                        <a:rPr spc="-10"/>
                        <a:t> </a:t>
                      </a:r>
                      <a:r>
                        <a:t>Structural</a:t>
                      </a:r>
                      <a:r>
                        <a:rPr spc="-35"/>
                        <a:t> </a:t>
                      </a:r>
                      <a:r>
                        <a:t>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 hMerge="1">
                  <a:tcPr/>
                </a:tc>
              </a:tr>
              <a:tr h="279052">
                <a:tc>
                  <a:txBody>
                    <a:bodyPr/>
                    <a:lstStyle/>
                    <a:p>
                      <a:pPr indent="90805" algn="l">
                        <a:spcBef>
                          <a:spcPts val="1000"/>
                        </a:spcBef>
                        <a:defRPr spc="-1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Type</a:t>
                      </a:r>
                      <a:r>
                        <a:rPr spc="-50"/>
                        <a:t> </a:t>
                      </a:r>
                      <a:r>
                        <a:rPr spc="0"/>
                        <a:t>of</a:t>
                      </a:r>
                      <a:r>
                        <a:rPr spc="-25"/>
                        <a:t> </a:t>
                      </a:r>
                      <a:r>
                        <a:rPr spc="0"/>
                        <a:t>Option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1000"/>
                        </a:spcBef>
                        <a:defRPr sz="1200">
                          <a:solidFill>
                            <a:srgbClr val="232323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Under Construction –</a:t>
                      </a:r>
                      <a:r>
                        <a:rPr spc="5"/>
                        <a:t> </a:t>
                      </a:r>
                      <a:r>
                        <a:t>PEB</a:t>
                      </a:r>
                      <a:r>
                        <a:rPr spc="-10"/>
                        <a:t> </a:t>
                      </a:r>
                      <a:r>
                        <a:t>Struct</a:t>
                      </a:r>
                      <a:r>
                        <a:rPr spc="5"/>
                        <a:t>u</a:t>
                      </a:r>
                      <a:r>
                        <a:t>r</a:t>
                      </a:r>
                      <a:r>
                        <a:rPr spc="5"/>
                        <a:t>e</a:t>
                      </a:r>
                      <a:r>
                        <a:rPr>
                          <a:solidFill>
                            <a:srgbClr val="242739"/>
                          </a:solidFill>
                        </a:rPr>
                        <a:t>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10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Google Coordinates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900" u="sng">
                          <a:solidFill>
                            <a:srgbClr val="007B8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13.194732, 77.421477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Status</a:t>
                      </a:r>
                      <a:r>
                        <a:rPr spc="-50"/>
                        <a:t> </a:t>
                      </a:r>
                      <a:r>
                        <a:t>of</a:t>
                      </a:r>
                      <a:r>
                        <a:rPr spc="-20"/>
                        <a:t> </a:t>
                      </a:r>
                      <a:r>
                        <a:t>Land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Approved For warehousing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Area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Offered area – 50,000 sq. ft. + 1,86,000 sq.ft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Rental per sq. ft.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24 INR + GST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Eaves</a:t>
                      </a:r>
                      <a:r>
                        <a:rPr spc="-45"/>
                        <a:t> </a:t>
                      </a:r>
                      <a:r>
                        <a:t>Height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12 Meter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pc="-1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Type</a:t>
                      </a:r>
                      <a:r>
                        <a:rPr spc="-50"/>
                        <a:t> </a:t>
                      </a:r>
                      <a:r>
                        <a:rPr spc="0"/>
                        <a:t>Of</a:t>
                      </a:r>
                      <a:r>
                        <a:rPr spc="-20"/>
                        <a:t> </a:t>
                      </a:r>
                      <a:r>
                        <a:rPr spc="0"/>
                        <a:t>Flooring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500"/>
                        </a:spcBef>
                        <a:defRPr spc="-40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VDF </a:t>
                      </a:r>
                      <a:r>
                        <a:rPr spc="-5"/>
                        <a:t>Flooring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indent="90805" algn="l">
                        <a:spcBef>
                          <a:spcPts val="5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Floor</a:t>
                      </a:r>
                      <a:r>
                        <a:rPr spc="-40"/>
                        <a:t> </a:t>
                      </a:r>
                      <a:r>
                        <a:t>Load</a:t>
                      </a:r>
                      <a:r>
                        <a:rPr spc="-50"/>
                        <a:t> </a:t>
                      </a:r>
                      <a:r>
                        <a:t>Capacity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91439" algn="l">
                        <a:spcBef>
                          <a:spcPts val="500"/>
                        </a:spcBef>
                        <a:def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5-6</a:t>
                      </a:r>
                      <a:r>
                        <a:rPr spc="-45"/>
                        <a:t> </a:t>
                      </a:r>
                      <a:r>
                        <a:rPr spc="-15"/>
                        <a:t>Tonnes/Sq.</a:t>
                      </a:r>
                      <a:r>
                        <a:rPr spc="-60"/>
                        <a:t> </a:t>
                      </a:r>
                      <a:r>
                        <a:t>Mtr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No. of docks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10 Nos plus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Canopy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Running Canopy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Ventilation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Ridge vents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Insulation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Electrical workload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Load – 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Toilets  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marR="260350" indent="90805" algn="l">
                        <a:spcBef>
                          <a:spcPts val="700"/>
                        </a:spcBef>
                        <a:defRPr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r>
                        <a:t>B</a:t>
                      </a:r>
                      <a:r>
                        <a:rPr spc="5"/>
                        <a:t>u</a:t>
                      </a:r>
                      <a:r>
                        <a:t>i</a:t>
                      </a:r>
                      <a:r>
                        <a:rPr spc="-5"/>
                        <a:t>l</a:t>
                      </a:r>
                      <a:r>
                        <a:rPr spc="-10"/>
                        <a:t>d</a:t>
                      </a:r>
                      <a:r>
                        <a:rPr spc="-15"/>
                        <a:t>i</a:t>
                      </a:r>
                      <a:r>
                        <a:rPr spc="-10"/>
                        <a:t>n</a:t>
                      </a:r>
                      <a:r>
                        <a:t>g</a:t>
                      </a:r>
                      <a:r>
                        <a:rPr spc="-55"/>
                        <a:t> </a:t>
                      </a:r>
                      <a:r>
                        <a:t>Struct</a:t>
                      </a:r>
                      <a:r>
                        <a:rPr spc="5"/>
                        <a:t>u</a:t>
                      </a:r>
                      <a:r>
                        <a:t>ral</a:t>
                      </a:r>
                      <a:r>
                        <a:rPr spc="5"/>
                        <a:t> </a:t>
                      </a:r>
                      <a:r>
                        <a:t>St</a:t>
                      </a:r>
                      <a:r>
                        <a:rPr spc="5"/>
                        <a:t>a</a:t>
                      </a:r>
                      <a:r>
                        <a:t>b</a:t>
                      </a:r>
                      <a:r>
                        <a:rPr spc="-15"/>
                        <a:t>i</a:t>
                      </a:r>
                      <a:r>
                        <a:t>l</a:t>
                      </a:r>
                      <a:r>
                        <a:rPr spc="-20"/>
                        <a:t>i</a:t>
                      </a:r>
                      <a:r>
                        <a:t>ty</a:t>
                      </a:r>
                      <a:r>
                        <a:t> Certificate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Available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R="281940" algn="l"/>
                      <a:r>
                        <a:rPr spc="-5" sz="1200">
                          <a:solidFill>
                            <a:srgbClr val="1D171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Fire safety details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Hydrant+Sprinklers &amp; NOC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Handover timeline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00"/>
                        </a:spcBef>
                      </a:pPr>
                      <a:r>
                        <a:rPr sz="120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50,000 sft - Feb 2026 1,86,000 sft - August 2026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37" name="Image 0" descr="Image 0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19003" y="1209047"/>
            <a:ext cx="4128265" cy="2489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Image 1" descr="Image 1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94822" y="3815144"/>
            <a:ext cx="3976628" cy="28372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object 2"/>
          <p:cNvGrpSpPr/>
          <p:nvPr/>
        </p:nvGrpSpPr>
        <p:grpSpPr>
          <a:xfrm>
            <a:off x="-1" y="0"/>
            <a:ext cx="9144001" cy="6857997"/>
            <a:chOff x="0" y="0"/>
            <a:chExt cx="9143999" cy="6857996"/>
          </a:xfrm>
        </p:grpSpPr>
        <p:pic>
          <p:nvPicPr>
            <p:cNvPr id="140" name="object 3" descr="object 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9144001" cy="685799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143" name="object 4"/>
            <p:cNvGrpSpPr/>
            <p:nvPr/>
          </p:nvGrpSpPr>
          <p:grpSpPr>
            <a:xfrm>
              <a:off x="606551" y="2743199"/>
              <a:ext cx="7999350" cy="1145668"/>
              <a:chOff x="0" y="0"/>
              <a:chExt cx="7999349" cy="1145666"/>
            </a:xfrm>
          </p:grpSpPr>
          <p:sp>
            <p:nvSpPr>
              <p:cNvPr id="141" name="Shape"/>
              <p:cNvSpPr/>
              <p:nvPr/>
            </p:nvSpPr>
            <p:spPr>
              <a:xfrm>
                <a:off x="0" y="0"/>
                <a:ext cx="4846574" cy="11410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21600"/>
                    </a:moveTo>
                    <a:lnTo>
                      <a:pt x="19119" y="0"/>
                    </a:lnTo>
                    <a:lnTo>
                      <a:pt x="0" y="0"/>
                    </a:ln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9B9FA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42" name="Shape"/>
              <p:cNvSpPr/>
              <p:nvPr/>
            </p:nvSpPr>
            <p:spPr>
              <a:xfrm>
                <a:off x="6404610" y="4572"/>
                <a:ext cx="1594740" cy="11410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0"/>
                    </a:moveTo>
                    <a:lnTo>
                      <a:pt x="9079" y="0"/>
                    </a:lnTo>
                    <a:lnTo>
                      <a:pt x="0" y="21600"/>
                    </a:lnTo>
                    <a:lnTo>
                      <a:pt x="216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9B9FA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  <p:sp>
          <p:nvSpPr>
            <p:cNvPr id="144" name="object 5"/>
            <p:cNvSpPr/>
            <p:nvPr/>
          </p:nvSpPr>
          <p:spPr>
            <a:xfrm>
              <a:off x="5062727" y="2331720"/>
              <a:ext cx="2598167" cy="571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79" y="600"/>
                  </a:lnTo>
                  <a:lnTo>
                    <a:pt x="238" y="2040"/>
                  </a:lnTo>
                  <a:lnTo>
                    <a:pt x="514" y="4258"/>
                  </a:lnTo>
                  <a:lnTo>
                    <a:pt x="831" y="7018"/>
                  </a:lnTo>
                  <a:lnTo>
                    <a:pt x="1677" y="13920"/>
                  </a:lnTo>
                  <a:lnTo>
                    <a:pt x="2152" y="17818"/>
                  </a:lnTo>
                  <a:lnTo>
                    <a:pt x="2600" y="21600"/>
                  </a:lnTo>
                  <a:lnTo>
                    <a:pt x="2653" y="21360"/>
                  </a:lnTo>
                  <a:lnTo>
                    <a:pt x="3181" y="20098"/>
                  </a:lnTo>
                  <a:lnTo>
                    <a:pt x="3645" y="19138"/>
                  </a:lnTo>
                  <a:lnTo>
                    <a:pt x="4238" y="17880"/>
                  </a:lnTo>
                  <a:lnTo>
                    <a:pt x="5004" y="16440"/>
                  </a:lnTo>
                  <a:lnTo>
                    <a:pt x="5888" y="14880"/>
                  </a:lnTo>
                  <a:lnTo>
                    <a:pt x="6944" y="13258"/>
                  </a:lnTo>
                  <a:lnTo>
                    <a:pt x="8173" y="11458"/>
                  </a:lnTo>
                  <a:lnTo>
                    <a:pt x="9546" y="9658"/>
                  </a:lnTo>
                  <a:lnTo>
                    <a:pt x="11103" y="7920"/>
                  </a:lnTo>
                  <a:lnTo>
                    <a:pt x="12846" y="6120"/>
                  </a:lnTo>
                  <a:lnTo>
                    <a:pt x="13784" y="5218"/>
                  </a:lnTo>
                  <a:lnTo>
                    <a:pt x="15764" y="3600"/>
                  </a:lnTo>
                  <a:lnTo>
                    <a:pt x="16834" y="2818"/>
                  </a:lnTo>
                  <a:lnTo>
                    <a:pt x="17969" y="2160"/>
                  </a:lnTo>
                  <a:lnTo>
                    <a:pt x="19131" y="1378"/>
                  </a:lnTo>
                  <a:lnTo>
                    <a:pt x="20332" y="7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AB81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5" name="object 6"/>
            <p:cNvSpPr/>
            <p:nvPr/>
          </p:nvSpPr>
          <p:spPr>
            <a:xfrm>
              <a:off x="5379718" y="2598420"/>
              <a:ext cx="2011682" cy="353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8626" y="0"/>
                  </a:moveTo>
                  <a:lnTo>
                    <a:pt x="7722" y="1258"/>
                  </a:lnTo>
                  <a:lnTo>
                    <a:pt x="6870" y="2532"/>
                  </a:lnTo>
                  <a:lnTo>
                    <a:pt x="6035" y="3992"/>
                  </a:lnTo>
                  <a:lnTo>
                    <a:pt x="5217" y="5546"/>
                  </a:lnTo>
                  <a:lnTo>
                    <a:pt x="3750" y="8660"/>
                  </a:lnTo>
                  <a:lnTo>
                    <a:pt x="2472" y="11674"/>
                  </a:lnTo>
                  <a:lnTo>
                    <a:pt x="1432" y="14400"/>
                  </a:lnTo>
                  <a:lnTo>
                    <a:pt x="648" y="16738"/>
                  </a:lnTo>
                  <a:lnTo>
                    <a:pt x="170" y="18190"/>
                  </a:lnTo>
                  <a:lnTo>
                    <a:pt x="0" y="18773"/>
                  </a:lnTo>
                  <a:lnTo>
                    <a:pt x="1568" y="20148"/>
                  </a:lnTo>
                  <a:lnTo>
                    <a:pt x="2420" y="20730"/>
                  </a:lnTo>
                  <a:lnTo>
                    <a:pt x="3256" y="21118"/>
                  </a:lnTo>
                  <a:lnTo>
                    <a:pt x="4109" y="21212"/>
                  </a:lnTo>
                  <a:lnTo>
                    <a:pt x="5865" y="21600"/>
                  </a:lnTo>
                  <a:lnTo>
                    <a:pt x="6785" y="21600"/>
                  </a:lnTo>
                  <a:lnTo>
                    <a:pt x="8575" y="21212"/>
                  </a:lnTo>
                  <a:lnTo>
                    <a:pt x="10399" y="20730"/>
                  </a:lnTo>
                  <a:lnTo>
                    <a:pt x="12121" y="19953"/>
                  </a:lnTo>
                  <a:lnTo>
                    <a:pt x="13810" y="19068"/>
                  </a:lnTo>
                  <a:lnTo>
                    <a:pt x="15412" y="17996"/>
                  </a:lnTo>
                  <a:lnTo>
                    <a:pt x="16878" y="16932"/>
                  </a:lnTo>
                  <a:lnTo>
                    <a:pt x="18207" y="15860"/>
                  </a:lnTo>
                  <a:lnTo>
                    <a:pt x="19350" y="14982"/>
                  </a:lnTo>
                  <a:lnTo>
                    <a:pt x="20986" y="13328"/>
                  </a:lnTo>
                  <a:lnTo>
                    <a:pt x="21600" y="12746"/>
                  </a:lnTo>
                  <a:lnTo>
                    <a:pt x="20918" y="12940"/>
                  </a:lnTo>
                  <a:lnTo>
                    <a:pt x="18957" y="12940"/>
                  </a:lnTo>
                  <a:lnTo>
                    <a:pt x="17714" y="12450"/>
                  </a:lnTo>
                  <a:lnTo>
                    <a:pt x="16553" y="11868"/>
                  </a:lnTo>
                  <a:lnTo>
                    <a:pt x="15412" y="10998"/>
                  </a:lnTo>
                  <a:lnTo>
                    <a:pt x="14337" y="9926"/>
                  </a:lnTo>
                  <a:lnTo>
                    <a:pt x="13332" y="8660"/>
                  </a:lnTo>
                  <a:lnTo>
                    <a:pt x="12410" y="7394"/>
                  </a:lnTo>
                  <a:lnTo>
                    <a:pt x="11558" y="5934"/>
                  </a:lnTo>
                  <a:lnTo>
                    <a:pt x="10842" y="4668"/>
                  </a:lnTo>
                  <a:lnTo>
                    <a:pt x="9649" y="2338"/>
                  </a:lnTo>
                  <a:lnTo>
                    <a:pt x="8899" y="676"/>
                  </a:lnTo>
                  <a:lnTo>
                    <a:pt x="8626" y="0"/>
                  </a:lnTo>
                  <a:close/>
                </a:path>
              </a:pathLst>
            </a:custGeom>
            <a:solidFill>
              <a:srgbClr val="201F1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6" name="object 7"/>
            <p:cNvSpPr/>
            <p:nvPr/>
          </p:nvSpPr>
          <p:spPr>
            <a:xfrm>
              <a:off x="5634227" y="2827019"/>
              <a:ext cx="1706628" cy="964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20976" y="71"/>
                  </a:lnTo>
                  <a:lnTo>
                    <a:pt x="19408" y="427"/>
                  </a:lnTo>
                  <a:lnTo>
                    <a:pt x="17014" y="996"/>
                  </a:lnTo>
                  <a:lnTo>
                    <a:pt x="14139" y="1775"/>
                  </a:lnTo>
                  <a:lnTo>
                    <a:pt x="12610" y="2236"/>
                  </a:lnTo>
                  <a:lnTo>
                    <a:pt x="11001" y="2836"/>
                  </a:lnTo>
                  <a:lnTo>
                    <a:pt x="9411" y="3439"/>
                  </a:lnTo>
                  <a:lnTo>
                    <a:pt x="7844" y="4079"/>
                  </a:lnTo>
                  <a:lnTo>
                    <a:pt x="6335" y="4858"/>
                  </a:lnTo>
                  <a:lnTo>
                    <a:pt x="4927" y="5674"/>
                  </a:lnTo>
                  <a:lnTo>
                    <a:pt x="4264" y="6135"/>
                  </a:lnTo>
                  <a:lnTo>
                    <a:pt x="3621" y="6528"/>
                  </a:lnTo>
                  <a:lnTo>
                    <a:pt x="2493" y="7486"/>
                  </a:lnTo>
                  <a:lnTo>
                    <a:pt x="2393" y="7555"/>
                  </a:lnTo>
                  <a:lnTo>
                    <a:pt x="2072" y="7839"/>
                  </a:lnTo>
                  <a:lnTo>
                    <a:pt x="1148" y="8795"/>
                  </a:lnTo>
                  <a:lnTo>
                    <a:pt x="704" y="9543"/>
                  </a:lnTo>
                  <a:lnTo>
                    <a:pt x="302" y="10462"/>
                  </a:lnTo>
                  <a:lnTo>
                    <a:pt x="80" y="11565"/>
                  </a:lnTo>
                  <a:lnTo>
                    <a:pt x="0" y="12165"/>
                  </a:lnTo>
                  <a:lnTo>
                    <a:pt x="40" y="12805"/>
                  </a:lnTo>
                  <a:lnTo>
                    <a:pt x="2996" y="21600"/>
                  </a:lnTo>
                  <a:lnTo>
                    <a:pt x="2996" y="21353"/>
                  </a:lnTo>
                  <a:lnTo>
                    <a:pt x="3077" y="20713"/>
                  </a:lnTo>
                  <a:lnTo>
                    <a:pt x="3459" y="19649"/>
                  </a:lnTo>
                  <a:lnTo>
                    <a:pt x="3842" y="19046"/>
                  </a:lnTo>
                  <a:lnTo>
                    <a:pt x="4345" y="18409"/>
                  </a:lnTo>
                  <a:lnTo>
                    <a:pt x="5531" y="17203"/>
                  </a:lnTo>
                  <a:lnTo>
                    <a:pt x="6074" y="16742"/>
                  </a:lnTo>
                  <a:lnTo>
                    <a:pt x="6696" y="16244"/>
                  </a:lnTo>
                  <a:lnTo>
                    <a:pt x="7461" y="15712"/>
                  </a:lnTo>
                  <a:lnTo>
                    <a:pt x="8307" y="15180"/>
                  </a:lnTo>
                  <a:lnTo>
                    <a:pt x="9271" y="14646"/>
                  </a:lnTo>
                  <a:lnTo>
                    <a:pt x="10337" y="14080"/>
                  </a:lnTo>
                  <a:lnTo>
                    <a:pt x="11523" y="13619"/>
                  </a:lnTo>
                  <a:lnTo>
                    <a:pt x="12832" y="13161"/>
                  </a:lnTo>
                  <a:lnTo>
                    <a:pt x="14259" y="12697"/>
                  </a:lnTo>
                  <a:lnTo>
                    <a:pt x="15828" y="12342"/>
                  </a:lnTo>
                  <a:lnTo>
                    <a:pt x="17477" y="12094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AB81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7" name="object 8"/>
            <p:cNvSpPr/>
            <p:nvPr/>
          </p:nvSpPr>
          <p:spPr>
            <a:xfrm>
              <a:off x="5867400" y="3532632"/>
              <a:ext cx="894081" cy="284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618" y="0"/>
                  </a:moveTo>
                  <a:lnTo>
                    <a:pt x="7281" y="539"/>
                  </a:lnTo>
                  <a:lnTo>
                    <a:pt x="6339" y="1771"/>
                  </a:lnTo>
                  <a:lnTo>
                    <a:pt x="5069" y="4033"/>
                  </a:lnTo>
                  <a:lnTo>
                    <a:pt x="3574" y="6565"/>
                  </a:lnTo>
                  <a:lnTo>
                    <a:pt x="2120" y="9703"/>
                  </a:lnTo>
                  <a:lnTo>
                    <a:pt x="945" y="13149"/>
                  </a:lnTo>
                  <a:lnTo>
                    <a:pt x="203" y="16893"/>
                  </a:lnTo>
                  <a:lnTo>
                    <a:pt x="0" y="18732"/>
                  </a:lnTo>
                  <a:lnTo>
                    <a:pt x="34" y="20666"/>
                  </a:lnTo>
                  <a:lnTo>
                    <a:pt x="420" y="20840"/>
                  </a:lnTo>
                  <a:lnTo>
                    <a:pt x="1503" y="21148"/>
                  </a:lnTo>
                  <a:lnTo>
                    <a:pt x="3203" y="21600"/>
                  </a:lnTo>
                  <a:lnTo>
                    <a:pt x="5630" y="21561"/>
                  </a:lnTo>
                  <a:lnTo>
                    <a:pt x="8744" y="21542"/>
                  </a:lnTo>
                  <a:lnTo>
                    <a:pt x="12463" y="20695"/>
                  </a:lnTo>
                  <a:lnTo>
                    <a:pt x="14534" y="20127"/>
                  </a:lnTo>
                  <a:lnTo>
                    <a:pt x="16712" y="19405"/>
                  </a:lnTo>
                  <a:lnTo>
                    <a:pt x="19044" y="18298"/>
                  </a:lnTo>
                  <a:lnTo>
                    <a:pt x="21600" y="17163"/>
                  </a:lnTo>
                  <a:lnTo>
                    <a:pt x="21213" y="16864"/>
                  </a:lnTo>
                  <a:lnTo>
                    <a:pt x="20241" y="16296"/>
                  </a:lnTo>
                  <a:lnTo>
                    <a:pt x="18759" y="15209"/>
                  </a:lnTo>
                  <a:lnTo>
                    <a:pt x="16884" y="13457"/>
                  </a:lnTo>
                  <a:lnTo>
                    <a:pt x="14730" y="11156"/>
                  </a:lnTo>
                  <a:lnTo>
                    <a:pt x="12411" y="8163"/>
                  </a:lnTo>
                  <a:lnTo>
                    <a:pt x="11187" y="6420"/>
                  </a:lnTo>
                  <a:lnTo>
                    <a:pt x="10005" y="4563"/>
                  </a:lnTo>
                  <a:lnTo>
                    <a:pt x="8775" y="2339"/>
                  </a:lnTo>
                  <a:lnTo>
                    <a:pt x="7618" y="0"/>
                  </a:lnTo>
                  <a:close/>
                </a:path>
              </a:pathLst>
            </a:custGeom>
            <a:solidFill>
              <a:srgbClr val="201F1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8" name="object 9"/>
            <p:cNvSpPr/>
            <p:nvPr/>
          </p:nvSpPr>
          <p:spPr>
            <a:xfrm>
              <a:off x="6091427" y="3761232"/>
              <a:ext cx="648844" cy="7494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18641" y="366"/>
                  </a:lnTo>
                  <a:lnTo>
                    <a:pt x="17271" y="597"/>
                  </a:lnTo>
                  <a:lnTo>
                    <a:pt x="15635" y="963"/>
                  </a:lnTo>
                  <a:lnTo>
                    <a:pt x="13943" y="1373"/>
                  </a:lnTo>
                  <a:lnTo>
                    <a:pt x="12096" y="1969"/>
                  </a:lnTo>
                  <a:lnTo>
                    <a:pt x="8396" y="3397"/>
                  </a:lnTo>
                  <a:lnTo>
                    <a:pt x="7445" y="3946"/>
                  </a:lnTo>
                  <a:lnTo>
                    <a:pt x="6553" y="4447"/>
                  </a:lnTo>
                  <a:lnTo>
                    <a:pt x="5754" y="4953"/>
                  </a:lnTo>
                  <a:lnTo>
                    <a:pt x="4858" y="5549"/>
                  </a:lnTo>
                  <a:lnTo>
                    <a:pt x="4016" y="6142"/>
                  </a:lnTo>
                  <a:lnTo>
                    <a:pt x="3327" y="6834"/>
                  </a:lnTo>
                  <a:lnTo>
                    <a:pt x="2642" y="7475"/>
                  </a:lnTo>
                  <a:lnTo>
                    <a:pt x="1898" y="8258"/>
                  </a:lnTo>
                  <a:lnTo>
                    <a:pt x="1319" y="9034"/>
                  </a:lnTo>
                  <a:lnTo>
                    <a:pt x="791" y="9861"/>
                  </a:lnTo>
                  <a:lnTo>
                    <a:pt x="423" y="10729"/>
                  </a:lnTo>
                  <a:lnTo>
                    <a:pt x="0" y="11647"/>
                  </a:lnTo>
                  <a:lnTo>
                    <a:pt x="676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AB81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49" name="object 10" descr="object 1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414271" y="3131820"/>
              <a:ext cx="2116838" cy="3230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