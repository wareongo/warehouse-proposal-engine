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A91B8A-5899-4310-9F51-F865C20D8DF6}">
  <a:tblStyle styleId="{5AA91B8A-5899-4310-9F51-F865C20D8D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234cf49cf_0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234cf49cf_0_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234cf49cf_0_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234cf49cf_0_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234cf49cf_0_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234cf49cf_0_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34cf49cf_0_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e234cf49cf_0_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rows: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Rent per sqft</a:t>
            </a:r>
            <a:endParaRPr/>
          </a:p>
        </p:txBody>
      </p:sp>
      <p:sp>
        <p:nvSpPr>
          <p:cNvPr id="82" name="Google Shape;82;g3e234cf49cf_0_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9943218c2_0_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9943218c2_0_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rows: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Rent per sqft</a:t>
            </a:r>
            <a:endParaRPr/>
          </a:p>
        </p:txBody>
      </p:sp>
      <p:sp>
        <p:nvSpPr>
          <p:cNvPr id="106" name="Google Shape;106;g3e9943218c2_0_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234cf49cf_0_8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234cf49cf_0_8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234cf49cf_0_8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 title="5fed76ac50f9be280b2191bbd3045384.png"/>
          <p:cNvPicPr preferRelativeResize="0"/>
          <p:nvPr/>
        </p:nvPicPr>
        <p:blipFill rotWithShape="1">
          <a:blip r:embed="rId3">
            <a:alphaModFix/>
          </a:blip>
          <a:srcRect b="0" l="9736" r="14615" t="0"/>
          <a:stretch/>
        </p:blipFill>
        <p:spPr>
          <a:xfrm>
            <a:off x="5120700" y="0"/>
            <a:ext cx="4023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5120690" y="0"/>
            <a:ext cx="4023300" cy="5143500"/>
          </a:xfrm>
          <a:prstGeom prst="rect">
            <a:avLst/>
          </a:prstGeom>
          <a:solidFill>
            <a:srgbClr val="1E3148">
              <a:alpha val="70200"/>
            </a:srgbClr>
          </a:solidFill>
          <a:ln cap="flat" cmpd="sng" w="12700">
            <a:solidFill>
              <a:srgbClr val="1E3148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5120640" y="0"/>
            <a:ext cx="54900" cy="514350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411475" y="2232025"/>
            <a:ext cx="47091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" sz="30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Warehouse Options</a:t>
            </a:r>
            <a:endParaRPr i="0" sz="30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" sz="30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b="1" lang="en" sz="30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Gimi Michi</a:t>
            </a:r>
            <a:endParaRPr b="1" sz="3000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02920" y="3858768"/>
            <a:ext cx="457200" cy="50400"/>
          </a:xfrm>
          <a:prstGeom prst="rect">
            <a:avLst/>
          </a:prstGeom>
          <a:solidFill>
            <a:srgbClr val="1A3350"/>
          </a:solidFill>
          <a:ln cap="flat" cmpd="sng" w="12700">
            <a:solidFill>
              <a:srgbClr val="1A3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1024128" y="3858768"/>
            <a:ext cx="3017400" cy="5040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521494" y="4041650"/>
            <a:ext cx="344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1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Gurugram</a:t>
            </a:r>
            <a:r>
              <a:rPr i="0" lang="en" sz="11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  ·  </a:t>
            </a:r>
            <a:r>
              <a:rPr lang="en" sz="11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i="0" lang="en" sz="11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 Properties</a:t>
            </a:r>
            <a:endParaRPr i="0" sz="11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502920" y="4636008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E"/>
              </a:buClr>
              <a:buSzPts val="850"/>
              <a:buFont typeface="Calibri"/>
              <a:buNone/>
            </a:pP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Prepared by Ware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 | Dated 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/05/2026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|  Confidential</a:t>
            </a:r>
            <a:endParaRPr i="0" sz="85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" name="Google Shape;69;p16" title="WareOnGo_font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" y="0"/>
            <a:ext cx="1982400" cy="14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457200" y="360750"/>
            <a:ext cx="8229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INDEX</a:t>
            </a:r>
            <a:endParaRPr i="0" sz="21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6" name="Google Shape;76;p17"/>
          <p:cNvGraphicFramePr/>
          <p:nvPr/>
        </p:nvGraphicFramePr>
        <p:xfrm>
          <a:off x="560050" y="103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480050"/>
                <a:gridCol w="891550"/>
                <a:gridCol w="1920250"/>
                <a:gridCol w="1920250"/>
                <a:gridCol w="1920250"/>
                <a:gridCol w="8915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S.No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 ID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Quoted Monthly Rental (INR/Sq.ft)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Offered Area (Sq.ft)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Availability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A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1700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Sihi Village, Gurugram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26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/-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7,000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mmediate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</a:t>
                      </a:r>
                      <a:endParaRPr sz="8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1701</a:t>
                      </a:r>
                      <a:endParaRPr/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Kherki Dhaula</a:t>
                      </a:r>
                      <a:endParaRPr/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40/- (negotiable)</a:t>
                      </a:r>
                      <a:endParaRPr/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,000</a:t>
                      </a:r>
                      <a:endParaRPr/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mmediate</a:t>
                      </a:r>
                      <a:endParaRPr/>
                    </a:p>
                  </a:txBody>
                  <a:tcPr marT="68600" marB="68600" marR="68600" marL="686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77" name="Google Shape;77;p17" title="WareOnGo_font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279" y="0"/>
            <a:ext cx="495721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4571995" y="4887608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E"/>
              </a:buClr>
              <a:buSzPts val="850"/>
              <a:buFont typeface="Calibri"/>
              <a:buNone/>
            </a:pP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Prepared by Ware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 | Dated 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/05/2026 |  Confidential</a:t>
            </a:r>
            <a:endParaRPr i="0" sz="85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0" y="0"/>
            <a:ext cx="24003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37160" y="48006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 1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137160" y="82296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Property Information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137160" y="74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13744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Address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Sihi Village, Gurgaon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Google Maps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Awaited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8"/>
          <p:cNvSpPr/>
          <p:nvPr/>
        </p:nvSpPr>
        <p:spPr>
          <a:xfrm>
            <a:off x="137160" y="202311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Specifications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137160" y="1846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593450"/>
                <a:gridCol w="780975"/>
              </a:tblGrid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Offered </a:t>
                      </a:r>
                      <a:r>
                        <a:rPr lang="en" sz="700" u="none" cap="none" strike="noStrike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7000 sqft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Building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Shed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Docks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Nos.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4ft plinth height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Height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ft 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eaves</a:t>
                      </a: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0ft centre 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Flooring</a:t>
                      </a:r>
                      <a:endParaRPr sz="700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VDF type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4-5 mtr/sqm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Fire Safety</a:t>
                      </a:r>
                      <a:endParaRPr sz="700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Hydrants - N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Sprinklers - N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Compliances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CLU - Y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Fire NOC - N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Handover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mmediate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90" name="Google Shape;90;p18"/>
          <p:cNvSpPr/>
          <p:nvPr/>
        </p:nvSpPr>
        <p:spPr>
          <a:xfrm>
            <a:off x="137160" y="384048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Commercials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137160" y="443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1374425"/>
              </a:tblGrid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 u="none" cap="none" strike="noStrike">
                          <a:solidFill>
                            <a:srgbClr val="F5F5F5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Rent per sq.ft (INR)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18"/>
          <p:cNvSpPr txBox="1"/>
          <p:nvPr/>
        </p:nvSpPr>
        <p:spPr>
          <a:xfrm>
            <a:off x="80950" y="71450"/>
            <a:ext cx="20574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335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Option 1 - ID 1700</a:t>
            </a:r>
            <a:endParaRPr>
              <a:solidFill>
                <a:srgbClr val="1A335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80950" y="457550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Location Details</a:t>
            </a:r>
            <a:endParaRPr b="1" sz="1000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81545" y="1458270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Specifications</a:t>
            </a:r>
            <a:endParaRPr b="1" sz="1000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82141" y="4084194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Commercials</a:t>
            </a:r>
            <a:endParaRPr b="1" sz="1000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571995" y="4887608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E"/>
              </a:buClr>
              <a:buSzPts val="850"/>
              <a:buFont typeface="Calibri"/>
              <a:buNone/>
            </a:pP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Prepared by Ware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 | Dated 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/05/2026 |  Confidential</a:t>
            </a:r>
            <a:endParaRPr i="0" sz="85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" name="Google Shape;97;p18" title="Screenshot 2026-05-20 at 7.05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801" y="366351"/>
            <a:ext cx="2903923" cy="206975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8" title="Screenshot 2026-05-20 at 7.06.0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575" y="327798"/>
            <a:ext cx="2903925" cy="2108302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8" title="Screenshot 2026-05-20 at 7.06.0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1525" y="2617825"/>
            <a:ext cx="2903925" cy="2090194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18" title="Screenshot 2026-05-20 at 7.05.5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6575" y="2615175"/>
            <a:ext cx="2903925" cy="2093344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1" name="Google Shape;101;p18"/>
          <p:cNvCxnSpPr/>
          <p:nvPr/>
        </p:nvCxnSpPr>
        <p:spPr>
          <a:xfrm>
            <a:off x="2393150" y="0"/>
            <a:ext cx="9000" cy="5143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2" name="Google Shape;102;p18" title="WareOnGo_font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48279" y="0"/>
            <a:ext cx="495721" cy="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137160" y="48006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 1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37160" y="82296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Property Information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0" name="Google Shape;110;p19"/>
          <p:cNvGraphicFramePr/>
          <p:nvPr/>
        </p:nvGraphicFramePr>
        <p:xfrm>
          <a:off x="137160" y="74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13744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Address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Kherki Dhaula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Google Maps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CC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Awaited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19"/>
          <p:cNvSpPr/>
          <p:nvPr/>
        </p:nvSpPr>
        <p:spPr>
          <a:xfrm>
            <a:off x="137160" y="202311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Specifications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2" name="Google Shape;112;p19"/>
          <p:cNvGraphicFramePr/>
          <p:nvPr/>
        </p:nvGraphicFramePr>
        <p:xfrm>
          <a:off x="137160" y="1846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593450"/>
                <a:gridCol w="780975"/>
              </a:tblGrid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Offered </a:t>
                      </a:r>
                      <a:r>
                        <a:rPr b="1" lang="en" sz="700" u="none" cap="none" strike="noStrike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000 sqft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Building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PEB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Docks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Nos.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4ft plinth height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Height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ft 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eaves</a:t>
                      </a:r>
                      <a:r>
                        <a:rPr lang="en" sz="7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ft centre 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Flooring</a:t>
                      </a:r>
                      <a:endParaRPr b="1" sz="700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Concrete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Fire Safety</a:t>
                      </a:r>
                      <a:endParaRPr b="1" sz="700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Hydrants - N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Sprinklers - N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Compliances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CLU - N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Fire NOC - N</a:t>
                      </a:r>
                      <a:endParaRPr sz="7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Handover</a:t>
                      </a:r>
                      <a:endParaRPr b="1"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Immediate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13" name="Google Shape;113;p19"/>
          <p:cNvSpPr/>
          <p:nvPr/>
        </p:nvSpPr>
        <p:spPr>
          <a:xfrm>
            <a:off x="137160" y="3840480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77CC"/>
                </a:solidFill>
                <a:latin typeface="Montserrat"/>
                <a:ea typeface="Montserrat"/>
                <a:cs typeface="Montserrat"/>
                <a:sym typeface="Montserrat"/>
              </a:rPr>
              <a:t>Commercials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137160" y="443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{5AA91B8A-5899-4310-9F51-F865C20D8DF6}</a:tableStyleId>
              </a:tblPr>
              <a:tblGrid>
                <a:gridCol w="751575"/>
                <a:gridCol w="1374425"/>
              </a:tblGrid>
              <a:tr h="2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F5F5F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Rent per sq.ft (INR)</a:t>
                      </a:r>
                      <a:endParaRPr sz="700" u="none" cap="none" strike="noStrike">
                        <a:solidFill>
                          <a:srgbClr val="F5F5F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 (negotiable)</a:t>
                      </a:r>
                      <a:endParaRPr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68600" marR="68600" marL="686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9"/>
          <p:cNvSpPr txBox="1"/>
          <p:nvPr/>
        </p:nvSpPr>
        <p:spPr>
          <a:xfrm>
            <a:off x="80950" y="71450"/>
            <a:ext cx="20574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335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Option 2 - ID 1701</a:t>
            </a:r>
            <a:endParaRPr>
              <a:solidFill>
                <a:srgbClr val="1A335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80950" y="457550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33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Location Details</a:t>
            </a:r>
            <a:endParaRPr sz="1000">
              <a:solidFill>
                <a:srgbClr val="1A33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81545" y="1458270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33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Specifications</a:t>
            </a:r>
            <a:endParaRPr sz="1000">
              <a:solidFill>
                <a:srgbClr val="1A33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2141" y="4084194"/>
            <a:ext cx="20574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33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Commercials</a:t>
            </a:r>
            <a:endParaRPr sz="1000">
              <a:solidFill>
                <a:srgbClr val="1A33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571995" y="4887608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E"/>
              </a:buClr>
              <a:buSzPts val="850"/>
              <a:buFont typeface="Calibri"/>
              <a:buNone/>
            </a:pP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Prepared by Ware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 | Dated 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/05/2026 |  Confidential</a:t>
            </a:r>
            <a:endParaRPr i="0" sz="85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9" title="WhatsApp Image 2026-05-20 at 18.00.4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750" y="851025"/>
            <a:ext cx="6084400" cy="3310925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1" name="Google Shape;121;p19"/>
          <p:cNvCxnSpPr/>
          <p:nvPr/>
        </p:nvCxnSpPr>
        <p:spPr>
          <a:xfrm>
            <a:off x="2393150" y="0"/>
            <a:ext cx="9000" cy="51435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" name="Google Shape;122;p19" title="WareOnGo_font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275" y="0"/>
            <a:ext cx="495724" cy="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342900" y="2057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For more details (or) to schedule a site visit, please contact –</a:t>
            </a:r>
            <a:endParaRPr i="0" sz="12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342900" y="24003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Dhaval Gupta</a:t>
            </a:r>
            <a:r>
              <a:rPr i="0" lang="en" sz="17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i="0" lang="en" sz="170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+918318825478</a:t>
            </a:r>
            <a:endParaRPr i="0" sz="17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352425" y="2784872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700"/>
              <a:buFont typeface="Calibri"/>
              <a:buNone/>
            </a:pPr>
            <a:r>
              <a:rPr b="1" lang="en" sz="170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www.wareongo.com</a:t>
            </a:r>
            <a:endParaRPr i="0" sz="170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571995" y="4887608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E"/>
              </a:buClr>
              <a:buSzPts val="850"/>
              <a:buFont typeface="Calibri"/>
              <a:buNone/>
            </a:pP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Prepared by Ware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o | Dated </a:t>
            </a:r>
            <a:r>
              <a:rPr lang="en" sz="850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i="0" lang="en" sz="850" u="none" cap="none" strike="noStrike">
                <a:solidFill>
                  <a:srgbClr val="1A3350"/>
                </a:solidFill>
                <a:latin typeface="Montserrat"/>
                <a:ea typeface="Montserrat"/>
                <a:cs typeface="Montserrat"/>
                <a:sym typeface="Montserrat"/>
              </a:rPr>
              <a:t>/05/2026 |  Confidential</a:t>
            </a:r>
            <a:endParaRPr i="0" sz="850" u="none" cap="none" strike="noStrike">
              <a:solidFill>
                <a:srgbClr val="1A33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0" title="WareOnGo_font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275" y="0"/>
            <a:ext cx="495724" cy="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