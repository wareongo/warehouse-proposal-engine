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maps.google.com/?q=28.668056,77.180885" TargetMode="External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maps.app.goo.gl/awCnbUMnxEqPzmof7?g_st=ac" TargetMode="External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maps.app.goo.gl/24uBCARNoT3tY8GR8?g_st=aw" TargetMode="Externa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XP7M+Q7J Bengaluru, Karnataka" TargetMode="External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maps.app.goo.gl/BuZpDKYwCMxh5Yh49?g_st=ac" TargetMode="Externa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s0125/dev/wareongo/Warehouse-Proposal-Engine/assets/cover-her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20640" y="0"/>
            <a:ext cx="402336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120640" y="0"/>
            <a:ext cx="4023360" cy="5143500"/>
          </a:xfrm>
          <a:prstGeom prst="rect">
            <a:avLst/>
          </a:prstGeom>
          <a:solidFill>
            <a:srgbClr val="1E3148">
              <a:alpha val="70000"/>
            </a:srgbClr>
          </a:solidFill>
          <a:ln w="12700">
            <a:solidFill>
              <a:srgbClr val="1E3148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120640" y="0"/>
            <a:ext cx="54864" cy="514350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pic>
        <p:nvPicPr>
          <p:cNvPr id="5" name="Image 1" descr="/home/rs0125/dev/wareongo/Warehouse-Proposal-Engine/assets/WOG_logo_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182880"/>
            <a:ext cx="1463040" cy="14630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29184" y="2232050"/>
            <a:ext cx="47091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Warehouse Options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A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 </a:t>
            </a:r>
            <a:pPr indent="0" marL="0">
              <a:buNone/>
            </a:pPr>
            <a:r>
              <a:rPr lang="en-US" sz="3000" b="1" dirty="0">
                <a:solidFill>
                  <a:srgbClr val="1A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 Client</a:t>
            </a:r>
            <a:endParaRPr lang="en-US" sz="3000" dirty="0"/>
          </a:p>
        </p:txBody>
      </p:sp>
      <p:sp>
        <p:nvSpPr>
          <p:cNvPr id="7" name="Shape 3"/>
          <p:cNvSpPr/>
          <p:nvPr/>
        </p:nvSpPr>
        <p:spPr>
          <a:xfrm>
            <a:off x="402336" y="3858768"/>
            <a:ext cx="457200" cy="50292"/>
          </a:xfrm>
          <a:prstGeom prst="rect">
            <a:avLst/>
          </a:prstGeom>
          <a:solidFill>
            <a:srgbClr val="1A3350"/>
          </a:solidFill>
          <a:ln w="12700">
            <a:solidFill>
              <a:srgbClr val="1A3350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19302" y="3858768"/>
            <a:ext cx="3017520" cy="5029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29184" y="4041648"/>
            <a:ext cx="355335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Delhi   ·   5 Properties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329184" y="477316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Prepared by WareOnGo  |  Dated 04/06/2026  |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118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A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INDEX</a:t>
            </a:r>
            <a:endParaRPr lang="en-US" sz="2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37844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731520"/>
                <a:gridCol w="2468880"/>
                <a:gridCol w="1828800"/>
                <a:gridCol w="128016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8F6F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S.No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8F6F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WH ID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8F6F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Location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8F6F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Quoted Monthly Rental (INR/Sq.ft)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8F6F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Offered Area (Sq.ft)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8F6F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Availability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1811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Moti Bagh industrial Area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41/-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2700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Immediate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1812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Avalahalli, Old Madras Road, near Whitefield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25/-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40000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Yes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1813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Balaji nagar kadachanendhal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33/-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680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Immediate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1814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Whitefield,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115 sft negotiable/-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7200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Yes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5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1815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New Udupi krishna Naivedhya 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Bomasandra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40 negotiable/-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10000, 9000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Yes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</a:tr>
            </a:tbl>
          </a:graphicData>
        </a:graphic>
      </p:graphicFrame>
      <p:pic>
        <p:nvPicPr>
          <p:cNvPr id="4" name="Image 0" descr="/home/rs0125/dev/wareongo/Warehouse-Proposal-Engine/assets/WOG_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45720"/>
            <a:ext cx="365760" cy="3657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251960" y="47731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A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Prepared by WareOnGo  |  Dated 04/06/2026  |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606040" cy="5143500"/>
          </a:xfrm>
          <a:prstGeom prst="rect">
            <a:avLst/>
          </a:prstGeom>
          <a:solidFill>
            <a:srgbClr val="F8F6F1"/>
          </a:solidFill>
          <a:ln w="12700">
            <a:solidFill>
              <a:srgbClr val="F8F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606040" y="0"/>
            <a:ext cx="0" cy="514350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1382" y="71323"/>
            <a:ext cx="2240280" cy="448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35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Option 1 - ID 1811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382" y="429402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Location Details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735178"/>
          <a:ext cx="2395728" cy="914400"/>
        </p:xfrm>
        <a:graphic>
          <a:graphicData uri="http://schemas.openxmlformats.org/drawingml/2006/table">
            <a:tbl>
              <a:tblPr/>
              <a:tblGrid>
                <a:gridCol w="749808"/>
                <a:gridCol w="1645920"/>
              </a:tblGrid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Address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Delhi, New Delhi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Google Maps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u="sng" dirty="0">
                          <a:solidFill>
                            <a:srgbClr val="1A56D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  <a:hlinkClick r:id="rId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28.668056, 77.180885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382" y="1368491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Specifications</a:t>
            </a:r>
            <a:endParaRPr lang="en-US" sz="10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1674266"/>
          <a:ext cx="2395728" cy="914400"/>
        </p:xfrm>
        <a:graphic>
          <a:graphicData uri="http://schemas.openxmlformats.org/drawingml/2006/table">
            <a:tbl>
              <a:tblPr/>
              <a:tblGrid>
                <a:gridCol w="749808"/>
                <a:gridCol w="868680"/>
                <a:gridCol w="777240"/>
              </a:tblGrid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Offered Area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2700 sqft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 hMerge="1">
                  <a:tcPr/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Building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RCC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 hMerge="1">
                  <a:tcPr/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Docks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N/A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 hMerge="1">
                  <a:tcPr/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Height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22 eaves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N/A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Flooring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Unverified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Unverified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Fire Safety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N/A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 hMerge="1">
                  <a:tcPr/>
                </a:tc>
              </a:tr>
              <a:tr h="4169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Compliances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Industrial CLU CLU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Fire NOC - N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Handover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Immediate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81382" y="4157868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Commercials</a:t>
            </a:r>
            <a:endParaRPr lang="en-US" sz="10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4463644"/>
          <a:ext cx="2395728" cy="914400"/>
        </p:xfrm>
        <a:graphic>
          <a:graphicData uri="http://schemas.openxmlformats.org/drawingml/2006/table">
            <a:tbl>
              <a:tblPr/>
              <a:tblGrid>
                <a:gridCol w="749808"/>
                <a:gridCol w="1645920"/>
              </a:tblGrid>
              <a:tr h="4169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Rent per sq.ft (INR)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41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2651760" y="365760"/>
            <a:ext cx="6080760" cy="434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Photos not available.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 be provided upon request.</a:t>
            </a:r>
            <a:endParaRPr lang="en-US" sz="1400" dirty="0"/>
          </a:p>
        </p:txBody>
      </p:sp>
      <p:pic>
        <p:nvPicPr>
          <p:cNvPr id="12" name="Image 0" descr="/home/rs0125/dev/wareongo/Warehouse-Proposal-Engine/assets/WOG_logo_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45720"/>
            <a:ext cx="365760" cy="3657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251960" y="47731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A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Prepared by WareOnGo  |  Dated 04/06/2026  |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606040" cy="5143500"/>
          </a:xfrm>
          <a:prstGeom prst="rect">
            <a:avLst/>
          </a:prstGeom>
          <a:solidFill>
            <a:srgbClr val="F8F6F1"/>
          </a:solidFill>
          <a:ln w="12700">
            <a:solidFill>
              <a:srgbClr val="F8F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606040" y="0"/>
            <a:ext cx="0" cy="514350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1382" y="71323"/>
            <a:ext cx="2240280" cy="448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35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Option 2 - ID 1812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382" y="429402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Location Details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735178"/>
          <a:ext cx="2395728" cy="914400"/>
        </p:xfrm>
        <a:graphic>
          <a:graphicData uri="http://schemas.openxmlformats.org/drawingml/2006/table">
            <a:tbl>
              <a:tblPr/>
              <a:tblGrid>
                <a:gridCol w="749808"/>
                <a:gridCol w="1645920"/>
              </a:tblGrid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Address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Bangalore, Karnataka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Google Maps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u="sng" dirty="0">
                          <a:solidFill>
                            <a:srgbClr val="1A56D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  <a:hlinkClick r:id="rId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See link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382" y="1368491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Specifications</a:t>
            </a:r>
            <a:endParaRPr lang="en-US" sz="10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1674266"/>
          <a:ext cx="2395728" cy="914400"/>
        </p:xfrm>
        <a:graphic>
          <a:graphicData uri="http://schemas.openxmlformats.org/drawingml/2006/table">
            <a:tbl>
              <a:tblPr/>
              <a:tblGrid>
                <a:gridCol w="749808"/>
                <a:gridCol w="868680"/>
                <a:gridCol w="777240"/>
              </a:tblGrid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Offered Area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40000 sqft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 hMerge="1">
                  <a:tcPr/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Building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Shed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 hMerge="1">
                  <a:tcPr/>
                </a:tc>
              </a:tr>
              <a:tr h="4169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Docks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3ft plinth height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Height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25ft eaves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30ft centre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Flooring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VDF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Unverified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Fire Safety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N/A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 hMerge="1">
                  <a:tcPr/>
                </a:tc>
              </a:tr>
              <a:tr h="4169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Compliances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Warehouse CLU CLU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Fire NOC - N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Handover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Yes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81382" y="428817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Commercials</a:t>
            </a:r>
            <a:endParaRPr lang="en-US" sz="100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4593946"/>
          <a:ext cx="2395728" cy="914400"/>
        </p:xfrm>
        <a:graphic>
          <a:graphicData uri="http://schemas.openxmlformats.org/drawingml/2006/table">
            <a:tbl>
              <a:tblPr/>
              <a:tblGrid>
                <a:gridCol w="749808"/>
                <a:gridCol w="1645920"/>
              </a:tblGrid>
              <a:tr h="4169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Rent per sq.ft (INR)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25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2651760" y="365760"/>
            <a:ext cx="6080760" cy="434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Photos not available.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 be provided upon request.</a:t>
            </a:r>
            <a:endParaRPr lang="en-US" sz="1400" dirty="0"/>
          </a:p>
        </p:txBody>
      </p:sp>
      <p:pic>
        <p:nvPicPr>
          <p:cNvPr id="12" name="Image 0" descr="/home/rs0125/dev/wareongo/Warehouse-Proposal-Engine/assets/WOG_logo_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45720"/>
            <a:ext cx="365760" cy="3657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251960" y="47731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A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Prepared by WareOnGo  |  Dated 04/06/2026  |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606040" cy="5143500"/>
          </a:xfrm>
          <a:prstGeom prst="rect">
            <a:avLst/>
          </a:prstGeom>
          <a:solidFill>
            <a:srgbClr val="F8F6F1"/>
          </a:solidFill>
          <a:ln w="12700">
            <a:solidFill>
              <a:srgbClr val="F8F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606040" y="0"/>
            <a:ext cx="0" cy="514350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1382" y="71323"/>
            <a:ext cx="2240280" cy="448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35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Option 3 - ID 1813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382" y="429402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Location Details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735178"/>
          <a:ext cx="2395728" cy="914400"/>
        </p:xfrm>
        <a:graphic>
          <a:graphicData uri="http://schemas.openxmlformats.org/drawingml/2006/table">
            <a:tbl>
              <a:tblPr/>
              <a:tblGrid>
                <a:gridCol w="749808"/>
                <a:gridCol w="1645920"/>
              </a:tblGrid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Address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Madurai, Tamilnadu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Google Maps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u="sng" dirty="0">
                          <a:solidFill>
                            <a:srgbClr val="1A56D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  <a:hlinkClick r:id="rId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9.9739699, 78.1673481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382" y="1368491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Specifications</a:t>
            </a:r>
            <a:endParaRPr lang="en-US" sz="10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1674266"/>
          <a:ext cx="2395728" cy="914400"/>
        </p:xfrm>
        <a:graphic>
          <a:graphicData uri="http://schemas.openxmlformats.org/drawingml/2006/table">
            <a:tbl>
              <a:tblPr/>
              <a:tblGrid>
                <a:gridCol w="749808"/>
                <a:gridCol w="868680"/>
                <a:gridCol w="777240"/>
              </a:tblGrid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Offered Area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680 sqft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 hMerge="1">
                  <a:tcPr/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Building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RCC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 hMerge="1">
                  <a:tcPr/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Docks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Not verified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N/A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Height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11 eaves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N/A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Flooring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Unverified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Unverified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Fire Safety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N/A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 hMerge="1">
                  <a:tcPr/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Compliances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Unverified CLU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Fire NOC - N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Handover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Immediate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81382" y="4027566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Commercials</a:t>
            </a:r>
            <a:endParaRPr lang="en-US" sz="100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4333342"/>
          <a:ext cx="2395728" cy="914400"/>
        </p:xfrm>
        <a:graphic>
          <a:graphicData uri="http://schemas.openxmlformats.org/drawingml/2006/table">
            <a:tbl>
              <a:tblPr/>
              <a:tblGrid>
                <a:gridCol w="749808"/>
                <a:gridCol w="1645920"/>
              </a:tblGrid>
              <a:tr h="4169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Rent per sq.ft (INR)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33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2651760" y="365760"/>
            <a:ext cx="6080760" cy="434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Photos not available.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 be provided upon request.</a:t>
            </a:r>
            <a:endParaRPr lang="en-US" sz="1400" dirty="0"/>
          </a:p>
        </p:txBody>
      </p:sp>
      <p:pic>
        <p:nvPicPr>
          <p:cNvPr id="12" name="Image 0" descr="/home/rs0125/dev/wareongo/Warehouse-Proposal-Engine/assets/WOG_logo_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45720"/>
            <a:ext cx="365760" cy="3657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251960" y="47731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A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Prepared by WareOnGo  |  Dated 04/06/2026  |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606040" cy="5143500"/>
          </a:xfrm>
          <a:prstGeom prst="rect">
            <a:avLst/>
          </a:prstGeom>
          <a:solidFill>
            <a:srgbClr val="F8F6F1"/>
          </a:solidFill>
          <a:ln w="12700">
            <a:solidFill>
              <a:srgbClr val="F8F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606040" y="0"/>
            <a:ext cx="0" cy="514350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1382" y="71323"/>
            <a:ext cx="2240280" cy="448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35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Option 4 - ID 1814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382" y="429402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Location Details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735178"/>
          <a:ext cx="2395728" cy="914400"/>
        </p:xfrm>
        <a:graphic>
          <a:graphicData uri="http://schemas.openxmlformats.org/drawingml/2006/table">
            <a:tbl>
              <a:tblPr/>
              <a:tblGrid>
                <a:gridCol w="749808"/>
                <a:gridCol w="1645920"/>
              </a:tblGrid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Address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Bangalore, Karnataka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Google Maps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u="sng" dirty="0">
                          <a:solidFill>
                            <a:srgbClr val="1A56D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  <a:hlinkClick r:id="rId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See link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382" y="1368491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Specifications</a:t>
            </a:r>
            <a:endParaRPr lang="en-US" sz="10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1674266"/>
          <a:ext cx="2395728" cy="914400"/>
        </p:xfrm>
        <a:graphic>
          <a:graphicData uri="http://schemas.openxmlformats.org/drawingml/2006/table">
            <a:tbl>
              <a:tblPr/>
              <a:tblGrid>
                <a:gridCol w="749808"/>
                <a:gridCol w="868680"/>
                <a:gridCol w="777240"/>
              </a:tblGrid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Offered Area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7200 sqft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 hMerge="1">
                  <a:tcPr/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Building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RCC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 hMerge="1">
                  <a:tcPr/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Docks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N/A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 hMerge="1">
                  <a:tcPr/>
                </a:tc>
              </a:tr>
              <a:tr h="4169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Height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N/A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10 feet centre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Flooring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FM2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Unverified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Fire Safety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N/A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 hMerge="1">
                  <a:tcPr/>
                </a:tc>
              </a:tr>
              <a:tr h="4169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Compliances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Commercial CLU CLU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Fire NOC - N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Handover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Yes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81382" y="428817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Commercials</a:t>
            </a:r>
            <a:endParaRPr lang="en-US" sz="1000" dirty="0"/>
          </a:p>
        </p:txBody>
      </p:sp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4593946"/>
          <a:ext cx="2395728" cy="914400"/>
        </p:xfrm>
        <a:graphic>
          <a:graphicData uri="http://schemas.openxmlformats.org/drawingml/2006/table">
            <a:tbl>
              <a:tblPr/>
              <a:tblGrid>
                <a:gridCol w="749808"/>
                <a:gridCol w="1645920"/>
              </a:tblGrid>
              <a:tr h="4169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Rent per sq.ft (INR)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115 sft negotiable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2651760" y="365760"/>
            <a:ext cx="6080760" cy="434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Photos not available.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 be provided upon request.</a:t>
            </a:r>
            <a:endParaRPr lang="en-US" sz="1400" dirty="0"/>
          </a:p>
        </p:txBody>
      </p:sp>
      <p:pic>
        <p:nvPicPr>
          <p:cNvPr id="12" name="Image 0" descr="/home/rs0125/dev/wareongo/Warehouse-Proposal-Engine/assets/WOG_logo_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45720"/>
            <a:ext cx="365760" cy="3657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251960" y="47731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A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Prepared by WareOnGo  |  Dated 04/06/2026  |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606040" cy="5143500"/>
          </a:xfrm>
          <a:prstGeom prst="rect">
            <a:avLst/>
          </a:prstGeom>
          <a:solidFill>
            <a:srgbClr val="F8F6F1"/>
          </a:solidFill>
          <a:ln w="12700">
            <a:solidFill>
              <a:srgbClr val="F8F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606040" y="0"/>
            <a:ext cx="0" cy="514350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1382" y="71323"/>
            <a:ext cx="2240280" cy="448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35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Option 5 - ID 1815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382" y="429402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Location Details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735178"/>
          <a:ext cx="2395728" cy="914400"/>
        </p:xfrm>
        <a:graphic>
          <a:graphicData uri="http://schemas.openxmlformats.org/drawingml/2006/table">
            <a:tbl>
              <a:tblPr/>
              <a:tblGrid>
                <a:gridCol w="749808"/>
                <a:gridCol w="1645920"/>
              </a:tblGrid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Address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Bangalore, Karnataka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Google Maps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u="sng" dirty="0">
                          <a:solidFill>
                            <a:srgbClr val="1A56D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  <a:hlinkClick r:id="rId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See link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382" y="1368491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Specifications</a:t>
            </a:r>
            <a:endParaRPr lang="en-US" sz="10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1674266"/>
          <a:ext cx="2395728" cy="914400"/>
        </p:xfrm>
        <a:graphic>
          <a:graphicData uri="http://schemas.openxmlformats.org/drawingml/2006/table">
            <a:tbl>
              <a:tblPr/>
              <a:tblGrid>
                <a:gridCol w="749808"/>
                <a:gridCol w="868680"/>
                <a:gridCol w="777240"/>
              </a:tblGrid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Offered Area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10000, 9000 sqft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 hMerge="1">
                  <a:tcPr/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Building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Shed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 hMerge="1">
                  <a:tcPr/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Docks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N/A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Height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N/A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25 ft centre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Flooring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VDF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Unverified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Fire Safety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N/A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 hMerge="1">
                  <a:tcPr/>
                </a:tc>
              </a:tr>
              <a:tr h="4169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Compliances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Warehouse CLU CLU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Fire NOC - N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Handover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Yes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81382" y="4157868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Commercials</a:t>
            </a:r>
            <a:endParaRPr lang="en-US" sz="10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4463644"/>
          <a:ext cx="2395728" cy="914400"/>
        </p:xfrm>
        <a:graphic>
          <a:graphicData uri="http://schemas.openxmlformats.org/drawingml/2006/table">
            <a:tbl>
              <a:tblPr/>
              <a:tblGrid>
                <a:gridCol w="749808"/>
                <a:gridCol w="1645920"/>
              </a:tblGrid>
              <a:tr h="4169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Rent per sq.ft (INR)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40 negotiable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2651760" y="365760"/>
            <a:ext cx="6080760" cy="434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Photos not available.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 be provided upon request.</a:t>
            </a:r>
            <a:endParaRPr lang="en-US" sz="1400" dirty="0"/>
          </a:p>
        </p:txBody>
      </p:sp>
      <p:pic>
        <p:nvPicPr>
          <p:cNvPr id="12" name="Image 0" descr="/home/rs0125/dev/wareongo/Warehouse-Proposal-Engine/assets/WOG_logo_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45720"/>
            <a:ext cx="365760" cy="3657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251960" y="47731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A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Prepared by WareOnGo  |  Dated 04/06/2026  |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205740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 more details (or) to schedule a site visit, please contact –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42900" y="240030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Dhaval Gupta</a:t>
            </a:r>
            <a:pPr algn="ctr" indent="0" marL="0">
              <a:buNone/>
            </a:pPr>
            <a:r>
              <a:rPr lang="en-US" sz="1700" dirty="0">
                <a:solidFill>
                  <a:srgbClr val="1A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|   </a:t>
            </a:r>
            <a:pPr algn="ctr" indent="0" marL="0">
              <a:buNone/>
            </a:pPr>
            <a:r>
              <a:rPr lang="en-US" sz="1700" b="1" dirty="0">
                <a:solidFill>
                  <a:srgbClr val="1A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+91 8318825478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52044" y="2785262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www.wareongo.com</a:t>
            </a:r>
            <a:endParaRPr lang="en-US" sz="1700" dirty="0"/>
          </a:p>
        </p:txBody>
      </p:sp>
      <p:pic>
        <p:nvPicPr>
          <p:cNvPr id="5" name="Image 0" descr="/home/rs0125/dev/wareongo/Warehouse-Proposal-Engine/assets/WOG_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457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251960" y="47731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A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Prepared by WareOnGo  |  Dated 04/06/2026  |  Confidential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2026-06-04T06:04:45Z</dcterms:created>
  <dcterms:modified xsi:type="dcterms:W3CDTF">2026-06-04T06:04:45Z</dcterms:modified>
</cp:coreProperties>
</file>